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87cf569-d804-ced5-e07b-273ae7c37241}">
          <p14:sldIdLst>
            <p14:sldId id="256"/>
            <p14:sldId id="257"/>
            <p14:sldId id="258"/>
            <p14:sldId id="259"/>
            <p14:sldId id="260"/>
          </p14:sldIdLst>
        </p14:section>
        <p14:section name="The six stages" id="{a8f3a717-92b3-8831-0e15-e1632eee02a9}">
          <p14:sldIdLst>
            <p14:sldId id="261"/>
            <p14:sldId id="262"/>
            <p14:sldId id="263"/>
            <p14:sldId id="264"/>
            <p14:sldId id="265"/>
            <p14:sldId id="266"/>
            <p14:sldId id="267"/>
          </p14:sldIdLst>
        </p14:section>
        <p14:section name="Wrap-up" id="{7cb31553-fa94-790a-b07d-a9501b467b17}">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walk through the software development life cycle and how it changes when AI agents do much of the work. The stages stay the same. What changes is how the work happens inside each one, and where people step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SDLC is simply the path software takes from idea to product. There are six stages. In the AI-native version we keep all six; we change how each one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story on one slide. Read down the right column: each stage now produces a file that people and agents can both read, and checking happens all the time instead of only between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rest of the talk. For each stage: what file it produces, who owns it, and the one idea to remember. We will go through them one at a time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stage by stage, this is the rule that holds everywhere. Agents do a lot of the work, but people own the decisions: accepting an intent, approving a PR, releasing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starts with a conversation, not a committee. The agent keeps asking questions until the idea is concrete, then writes intent.md with five fixed headings. Anything nobody said goes into Open questions, so nothing is invented. We measure success by how fast we get to a committed intent, and how many intents the product owner accepts.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Requirements and design used to be separate hand-offs. Now they happen in one session with an agent, and the organization's standards come in through skills. The agent says out loud where two policies conflict, instead of quietly picking one. Over time this goes from a manual prompt to a slash command, and finally to a job that runs on merge, so the product owner's first job is the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starts in plan mode, using the spec and the intent. The engineer pushes on the plan before any code is written. AGENTS.md is where the team's knowledge lives: commands, conventions, architecture, and the mistakes the agent keeps making. Note for Claude Code: it reads CLAUDE.md, so add a CLAUDE.md that imports AGENTS.md.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tell the agent how we do things; hooks make sure the rules are always followed. Parallel sessions are started by the engineer; subagents are started by the agent. The engineer's role shifts from writing every line to orchestrating this work. One caution: each subagent re-reads what it needs, so they cost more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checking. The feedback loop is the agent checking its own code while it works, like spell-check while you type. If a test fails, the agent fixes the code, never the test. Continuous evals check the agent itself: whenever we change its instructions, skills or hooks, we rerun a set of real tasks to make sure it still does good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now runs on every PR the same way, guided by a REVIEW.md rulebook. The agent can also fix comments when someone tags it. Hooks turn required approvals into automatic gates. But the key point: the agent that wrote the code cannot approve it, and a human code owner always makes the final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control band is the normal range for a number, like body temperature. A plain script watches it, with no AI involved. The further outside normal the number goes, the more the agent is allowed to do, but even at the top tier it can only open a PR or run a pre-approved runbook. Its findings come back as a new intent.md. People no longer have to start the work; they triage and review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it all together and the stages form a loop. Each stage hands the next one a readable file. And instead of ending at Maintain, the problems found in production feed straight back into Plan as a new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three things: readable files at every stage, checking that never stops, and humans accountable for every judgement call. Then open it up for questions. The full details and examples are in the README in our AI-Native-SDLC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4415" cy="365760"/>
          </a:xfrm>
          <a:prstGeom prst="rect">
            <a:avLst/>
          </a:prstGeom>
          <a:noFill/>
          <a:ln/>
        </p:spPr>
        <p:txBody>
          <a:bodyPr wrap="square" rtlCol="0"/>
          <a:lstStyle>
            <a:lvl1pPr indent="0" marL="0">
              <a:buNone/>
              <a:defRPr lang="en-US" sz="1400" b="1" spc="300" kern="0"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822960"/>
            <a:ext cx="11094415"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Ti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4415" cy="365760"/>
          </a:xfrm>
          <a:prstGeom prst="rect">
            <a:avLst/>
          </a:prstGeom>
          <a:noFill/>
          <a:ln/>
        </p:spPr>
        <p:txBody>
          <a:bodyPr wrap="square" rtlCol="0"/>
          <a:lstStyle>
            <a:lvl1pPr indent="0" marL="0">
              <a:buNone/>
              <a:defRPr lang="en-US" sz="1400" b="1" spc="300" kern="0"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822960"/>
            <a:ext cx="11094415"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Title Only">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4415"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3291840"/>
            <a:ext cx="11094415" cy="365760"/>
          </a:xfrm>
          <a:prstGeom prst="rect">
            <a:avLst/>
          </a:prstGeom>
          <a:noFill/>
          <a:ln/>
        </p:spPr>
        <p:txBody>
          <a:bodyPr wrap="square" lIns="0" tIns="0" rIns="0" bIns="0" rtlCol="0" anchor="ctr"/>
          <a:lstStyle/>
          <a:p>
            <a:pPr indent="0" marL="0">
              <a:buNone/>
            </a:pPr>
            <a:r>
              <a:rPr lang="en-US" sz="1600" b="1" spc="300" kern="0" dirty="0">
                <a:solidFill>
                  <a:schemeClr val="accent1"/>
                </a:solidFill>
              </a:rPr>
              <a:t>FROM IDEA TO PRODUCTION, IN SIX STAGES</a:t>
            </a:r>
            <a:endParaRPr lang="en-US" sz="1600" dirty="0"/>
          </a:p>
        </p:txBody>
      </p:sp>
      <p:sp>
        <p:nvSpPr>
          <p:cNvPr id="3" name="Text 1"/>
          <p:cNvSpPr txBox="1"/>
          <p:nvPr/>
        </p:nvSpPr>
        <p:spPr>
          <a:xfrm>
            <a:off x="548640" y="3703320"/>
            <a:ext cx="11094415" cy="1097280"/>
          </a:xfrm>
          <a:prstGeom prst="rect">
            <a:avLst/>
          </a:prstGeom>
          <a:noFill/>
          <a:ln/>
        </p:spPr>
        <p:txBody>
          <a:bodyPr wrap="square" lIns="0" tIns="0" rIns="0" bIns="0" rtlCol="0" anchor="ctr"/>
          <a:lstStyle/>
          <a:p>
            <a:pPr indent="0" marL="0">
              <a:buNone/>
            </a:pPr>
            <a:r>
              <a:rPr lang="en-US" sz="6000" b="1" dirty="0">
                <a:solidFill>
                  <a:schemeClr val="bg1"/>
                </a:solidFill>
              </a:rPr>
              <a:t>The AI-Native SDLC</a:t>
            </a:r>
            <a:endParaRPr lang="en-US" sz="6000" dirty="0"/>
          </a:p>
        </p:txBody>
      </p:sp>
      <p:sp>
        <p:nvSpPr>
          <p:cNvPr id="4" name="Text 2"/>
          <p:cNvSpPr txBox="1"/>
          <p:nvPr/>
        </p:nvSpPr>
        <p:spPr>
          <a:xfrm>
            <a:off x="548640" y="4937760"/>
            <a:ext cx="8686800" cy="822960"/>
          </a:xfrm>
          <a:prstGeom prst="rect">
            <a:avLst/>
          </a:prstGeom>
          <a:noFill/>
          <a:ln/>
        </p:spPr>
        <p:txBody>
          <a:bodyPr wrap="square" lIns="0" tIns="0" rIns="0" bIns="0" rtlCol="0" anchor="t"/>
          <a:lstStyle/>
          <a:p>
            <a:pPr indent="0" marL="0">
              <a:buNone/>
            </a:pPr>
            <a:r>
              <a:rPr lang="en-US" sz="2200" dirty="0">
                <a:solidFill>
                  <a:schemeClr val="accent4"/>
                </a:solidFill>
              </a:rPr>
              <a:t>How AI changes every stage of building software, and where humans stay in charge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4415"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WHAT IS THE SDLC?</a:t>
            </a:r>
            <a:endParaRPr lang="en-US" sz="1400" dirty="0"/>
          </a:p>
        </p:txBody>
      </p:sp>
      <p:sp>
        <p:nvSpPr>
          <p:cNvPr id="3" name="Text 0"/>
          <p:cNvSpPr/>
          <p:nvPr>
            <p:ph idx="101" type="title" hasCustomPrompt="1"/>
          </p:nvPr>
        </p:nvSpPr>
        <p:spPr>
          <a:xfrm>
            <a:off x="548640" y="82296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Six stages take software from an idea to a working product</a:t>
            </a:r>
            <a:endParaRPr lang="en-US" sz="3400" dirty="0"/>
          </a:p>
        </p:txBody>
      </p:sp>
      <p:sp>
        <p:nvSpPr>
          <p:cNvPr id="4" name="Plan card"/>
          <p:cNvSpPr/>
          <p:nvPr/>
        </p:nvSpPr>
        <p:spPr>
          <a:xfrm>
            <a:off x="548640" y="2286000"/>
            <a:ext cx="1658569" cy="1737360"/>
          </a:xfrm>
          <a:prstGeom prst="roundRect">
            <a:avLst>
              <a:gd name="adj" fmla="val 6616"/>
            </a:avLst>
          </a:prstGeom>
          <a:solidFill>
            <a:schemeClr val="bg2"/>
          </a:solidFill>
          <a:ln w="12700">
            <a:solidFill>
              <a:schemeClr val="bg2"/>
            </a:solidFill>
            <a:prstDash val="solid"/>
          </a:ln>
        </p:spPr>
      </p:sp>
      <p:sp>
        <p:nvSpPr>
          <p:cNvPr id="5" name="Text 3"/>
          <p:cNvSpPr txBox="1"/>
          <p:nvPr/>
        </p:nvSpPr>
        <p:spPr>
          <a:xfrm>
            <a:off x="777240" y="2560320"/>
            <a:ext cx="1201369" cy="411480"/>
          </a:xfrm>
          <a:prstGeom prst="rect">
            <a:avLst/>
          </a:prstGeom>
          <a:noFill/>
          <a:ln/>
        </p:spPr>
        <p:txBody>
          <a:bodyPr wrap="square" lIns="0" tIns="0" rIns="0" bIns="0" rtlCol="0" anchor="ctr"/>
          <a:lstStyle/>
          <a:p>
            <a:pPr indent="0" marL="0">
              <a:buNone/>
            </a:pPr>
            <a:r>
              <a:rPr lang="en-US" sz="1800" b="1" dirty="0">
                <a:solidFill>
                  <a:schemeClr val="accent2"/>
                </a:solidFill>
              </a:rPr>
              <a:t>1</a:t>
            </a:r>
            <a:endParaRPr lang="en-US" sz="1800" dirty="0"/>
          </a:p>
        </p:txBody>
      </p:sp>
      <p:sp>
        <p:nvSpPr>
          <p:cNvPr id="6" name="Text 4"/>
          <p:cNvSpPr txBox="1"/>
          <p:nvPr/>
        </p:nvSpPr>
        <p:spPr>
          <a:xfrm>
            <a:off x="777240" y="3063240"/>
            <a:ext cx="1201369" cy="548640"/>
          </a:xfrm>
          <a:prstGeom prst="rect">
            <a:avLst/>
          </a:prstGeom>
          <a:noFill/>
          <a:ln/>
        </p:spPr>
        <p:txBody>
          <a:bodyPr wrap="square" lIns="0" tIns="0" rIns="0" bIns="0" rtlCol="0" anchor="ctr"/>
          <a:lstStyle/>
          <a:p>
            <a:pPr indent="0" marL="0">
              <a:buNone/>
            </a:pPr>
            <a:r>
              <a:rPr lang="en-US" sz="2400" b="1" dirty="0">
                <a:solidFill>
                  <a:schemeClr val="tx1"/>
                </a:solidFill>
              </a:rPr>
              <a:t>Plan</a:t>
            </a:r>
            <a:endParaRPr lang="en-US" sz="2400" dirty="0"/>
          </a:p>
        </p:txBody>
      </p:sp>
      <p:sp>
        <p:nvSpPr>
          <p:cNvPr id="7" name="Design card"/>
          <p:cNvSpPr/>
          <p:nvPr/>
        </p:nvSpPr>
        <p:spPr>
          <a:xfrm>
            <a:off x="2435809" y="2286000"/>
            <a:ext cx="1658569" cy="1737360"/>
          </a:xfrm>
          <a:prstGeom prst="roundRect">
            <a:avLst>
              <a:gd name="adj" fmla="val 6616"/>
            </a:avLst>
          </a:prstGeom>
          <a:solidFill>
            <a:schemeClr val="bg2"/>
          </a:solidFill>
          <a:ln w="12700">
            <a:solidFill>
              <a:schemeClr val="bg2"/>
            </a:solidFill>
            <a:prstDash val="solid"/>
          </a:ln>
        </p:spPr>
      </p:sp>
      <p:sp>
        <p:nvSpPr>
          <p:cNvPr id="8" name="Text 6"/>
          <p:cNvSpPr txBox="1"/>
          <p:nvPr/>
        </p:nvSpPr>
        <p:spPr>
          <a:xfrm>
            <a:off x="2664409" y="2560320"/>
            <a:ext cx="1201369" cy="411480"/>
          </a:xfrm>
          <a:prstGeom prst="rect">
            <a:avLst/>
          </a:prstGeom>
          <a:noFill/>
          <a:ln/>
        </p:spPr>
        <p:txBody>
          <a:bodyPr wrap="square" lIns="0" tIns="0" rIns="0" bIns="0" rtlCol="0" anchor="ctr"/>
          <a:lstStyle/>
          <a:p>
            <a:pPr indent="0" marL="0">
              <a:buNone/>
            </a:pPr>
            <a:r>
              <a:rPr lang="en-US" sz="1800" b="1" dirty="0">
                <a:solidFill>
                  <a:schemeClr val="accent2"/>
                </a:solidFill>
              </a:rPr>
              <a:t>2</a:t>
            </a:r>
            <a:endParaRPr lang="en-US" sz="1800" dirty="0"/>
          </a:p>
        </p:txBody>
      </p:sp>
      <p:sp>
        <p:nvSpPr>
          <p:cNvPr id="9" name="Text 7"/>
          <p:cNvSpPr txBox="1"/>
          <p:nvPr/>
        </p:nvSpPr>
        <p:spPr>
          <a:xfrm>
            <a:off x="2664409" y="3063240"/>
            <a:ext cx="1201369" cy="548640"/>
          </a:xfrm>
          <a:prstGeom prst="rect">
            <a:avLst/>
          </a:prstGeom>
          <a:noFill/>
          <a:ln/>
        </p:spPr>
        <p:txBody>
          <a:bodyPr wrap="square" lIns="0" tIns="0" rIns="0" bIns="0" rtlCol="0" anchor="ctr"/>
          <a:lstStyle/>
          <a:p>
            <a:pPr indent="0" marL="0">
              <a:buNone/>
            </a:pPr>
            <a:r>
              <a:rPr lang="en-US" sz="2400" b="1" dirty="0">
                <a:solidFill>
                  <a:schemeClr val="tx1"/>
                </a:solidFill>
              </a:rPr>
              <a:t>Design</a:t>
            </a:r>
            <a:endParaRPr lang="en-US" sz="2400" dirty="0"/>
          </a:p>
        </p:txBody>
      </p:sp>
      <p:sp>
        <p:nvSpPr>
          <p:cNvPr id="10" name="Build card"/>
          <p:cNvSpPr/>
          <p:nvPr/>
        </p:nvSpPr>
        <p:spPr>
          <a:xfrm>
            <a:off x="4322978" y="2286000"/>
            <a:ext cx="1658569" cy="1737360"/>
          </a:xfrm>
          <a:prstGeom prst="roundRect">
            <a:avLst>
              <a:gd name="adj" fmla="val 6616"/>
            </a:avLst>
          </a:prstGeom>
          <a:solidFill>
            <a:schemeClr val="bg2"/>
          </a:solidFill>
          <a:ln w="12700">
            <a:solidFill>
              <a:schemeClr val="bg2"/>
            </a:solidFill>
            <a:prstDash val="solid"/>
          </a:ln>
        </p:spPr>
      </p:sp>
      <p:sp>
        <p:nvSpPr>
          <p:cNvPr id="11" name="Text 9"/>
          <p:cNvSpPr txBox="1"/>
          <p:nvPr/>
        </p:nvSpPr>
        <p:spPr>
          <a:xfrm>
            <a:off x="4551578" y="2560320"/>
            <a:ext cx="1201369" cy="411480"/>
          </a:xfrm>
          <a:prstGeom prst="rect">
            <a:avLst/>
          </a:prstGeom>
          <a:noFill/>
          <a:ln/>
        </p:spPr>
        <p:txBody>
          <a:bodyPr wrap="square" lIns="0" tIns="0" rIns="0" bIns="0" rtlCol="0" anchor="ctr"/>
          <a:lstStyle/>
          <a:p>
            <a:pPr indent="0" marL="0">
              <a:buNone/>
            </a:pPr>
            <a:r>
              <a:rPr lang="en-US" sz="1800" b="1" dirty="0">
                <a:solidFill>
                  <a:schemeClr val="accent2"/>
                </a:solidFill>
              </a:rPr>
              <a:t>3</a:t>
            </a:r>
            <a:endParaRPr lang="en-US" sz="1800" dirty="0"/>
          </a:p>
        </p:txBody>
      </p:sp>
      <p:sp>
        <p:nvSpPr>
          <p:cNvPr id="12" name="Text 10"/>
          <p:cNvSpPr txBox="1"/>
          <p:nvPr/>
        </p:nvSpPr>
        <p:spPr>
          <a:xfrm>
            <a:off x="4551578" y="3063240"/>
            <a:ext cx="1201369" cy="548640"/>
          </a:xfrm>
          <a:prstGeom prst="rect">
            <a:avLst/>
          </a:prstGeom>
          <a:noFill/>
          <a:ln/>
        </p:spPr>
        <p:txBody>
          <a:bodyPr wrap="square" lIns="0" tIns="0" rIns="0" bIns="0" rtlCol="0" anchor="ctr"/>
          <a:lstStyle/>
          <a:p>
            <a:pPr indent="0" marL="0">
              <a:buNone/>
            </a:pPr>
            <a:r>
              <a:rPr lang="en-US" sz="2400" b="1" dirty="0">
                <a:solidFill>
                  <a:schemeClr val="tx1"/>
                </a:solidFill>
              </a:rPr>
              <a:t>Build</a:t>
            </a:r>
            <a:endParaRPr lang="en-US" sz="2400" dirty="0"/>
          </a:p>
        </p:txBody>
      </p:sp>
      <p:sp>
        <p:nvSpPr>
          <p:cNvPr id="13" name="Test card"/>
          <p:cNvSpPr/>
          <p:nvPr/>
        </p:nvSpPr>
        <p:spPr>
          <a:xfrm>
            <a:off x="6210148" y="2286000"/>
            <a:ext cx="1658569" cy="1737360"/>
          </a:xfrm>
          <a:prstGeom prst="roundRect">
            <a:avLst>
              <a:gd name="adj" fmla="val 6616"/>
            </a:avLst>
          </a:prstGeom>
          <a:solidFill>
            <a:schemeClr val="bg2"/>
          </a:solidFill>
          <a:ln w="12700">
            <a:solidFill>
              <a:schemeClr val="bg2"/>
            </a:solidFill>
            <a:prstDash val="solid"/>
          </a:ln>
        </p:spPr>
      </p:sp>
      <p:sp>
        <p:nvSpPr>
          <p:cNvPr id="14" name="Text 12"/>
          <p:cNvSpPr txBox="1"/>
          <p:nvPr/>
        </p:nvSpPr>
        <p:spPr>
          <a:xfrm>
            <a:off x="6438748" y="2560320"/>
            <a:ext cx="1201369" cy="411480"/>
          </a:xfrm>
          <a:prstGeom prst="rect">
            <a:avLst/>
          </a:prstGeom>
          <a:noFill/>
          <a:ln/>
        </p:spPr>
        <p:txBody>
          <a:bodyPr wrap="square" lIns="0" tIns="0" rIns="0" bIns="0" rtlCol="0" anchor="ctr"/>
          <a:lstStyle/>
          <a:p>
            <a:pPr indent="0" marL="0">
              <a:buNone/>
            </a:pPr>
            <a:r>
              <a:rPr lang="en-US" sz="1800" b="1" dirty="0">
                <a:solidFill>
                  <a:schemeClr val="accent2"/>
                </a:solidFill>
              </a:rPr>
              <a:t>4</a:t>
            </a:r>
            <a:endParaRPr lang="en-US" sz="1800" dirty="0"/>
          </a:p>
        </p:txBody>
      </p:sp>
      <p:sp>
        <p:nvSpPr>
          <p:cNvPr id="15" name="Text 13"/>
          <p:cNvSpPr txBox="1"/>
          <p:nvPr/>
        </p:nvSpPr>
        <p:spPr>
          <a:xfrm>
            <a:off x="6438748" y="3063240"/>
            <a:ext cx="1201369" cy="548640"/>
          </a:xfrm>
          <a:prstGeom prst="rect">
            <a:avLst/>
          </a:prstGeom>
          <a:noFill/>
          <a:ln/>
        </p:spPr>
        <p:txBody>
          <a:bodyPr wrap="square" lIns="0" tIns="0" rIns="0" bIns="0" rtlCol="0" anchor="ctr"/>
          <a:lstStyle/>
          <a:p>
            <a:pPr indent="0" marL="0">
              <a:buNone/>
            </a:pPr>
            <a:r>
              <a:rPr lang="en-US" sz="2400" b="1" dirty="0">
                <a:solidFill>
                  <a:schemeClr val="tx1"/>
                </a:solidFill>
              </a:rPr>
              <a:t>Test</a:t>
            </a:r>
            <a:endParaRPr lang="en-US" sz="2400" dirty="0"/>
          </a:p>
        </p:txBody>
      </p:sp>
      <p:sp>
        <p:nvSpPr>
          <p:cNvPr id="16" name="Deploy card"/>
          <p:cNvSpPr/>
          <p:nvPr/>
        </p:nvSpPr>
        <p:spPr>
          <a:xfrm>
            <a:off x="8097317" y="2286000"/>
            <a:ext cx="1658569" cy="1737360"/>
          </a:xfrm>
          <a:prstGeom prst="roundRect">
            <a:avLst>
              <a:gd name="adj" fmla="val 6616"/>
            </a:avLst>
          </a:prstGeom>
          <a:solidFill>
            <a:schemeClr val="bg2"/>
          </a:solidFill>
          <a:ln w="12700">
            <a:solidFill>
              <a:schemeClr val="bg2"/>
            </a:solidFill>
            <a:prstDash val="solid"/>
          </a:ln>
        </p:spPr>
      </p:sp>
      <p:sp>
        <p:nvSpPr>
          <p:cNvPr id="17" name="Text 15"/>
          <p:cNvSpPr txBox="1"/>
          <p:nvPr/>
        </p:nvSpPr>
        <p:spPr>
          <a:xfrm>
            <a:off x="8325917" y="2560320"/>
            <a:ext cx="1201369" cy="411480"/>
          </a:xfrm>
          <a:prstGeom prst="rect">
            <a:avLst/>
          </a:prstGeom>
          <a:noFill/>
          <a:ln/>
        </p:spPr>
        <p:txBody>
          <a:bodyPr wrap="square" lIns="0" tIns="0" rIns="0" bIns="0" rtlCol="0" anchor="ctr"/>
          <a:lstStyle/>
          <a:p>
            <a:pPr indent="0" marL="0">
              <a:buNone/>
            </a:pPr>
            <a:r>
              <a:rPr lang="en-US" sz="1800" b="1" dirty="0">
                <a:solidFill>
                  <a:schemeClr val="accent2"/>
                </a:solidFill>
              </a:rPr>
              <a:t>5</a:t>
            </a:r>
            <a:endParaRPr lang="en-US" sz="1800" dirty="0"/>
          </a:p>
        </p:txBody>
      </p:sp>
      <p:sp>
        <p:nvSpPr>
          <p:cNvPr id="18" name="Text 16"/>
          <p:cNvSpPr txBox="1"/>
          <p:nvPr/>
        </p:nvSpPr>
        <p:spPr>
          <a:xfrm>
            <a:off x="8325917" y="3063240"/>
            <a:ext cx="1201369" cy="548640"/>
          </a:xfrm>
          <a:prstGeom prst="rect">
            <a:avLst/>
          </a:prstGeom>
          <a:noFill/>
          <a:ln/>
        </p:spPr>
        <p:txBody>
          <a:bodyPr wrap="square" lIns="0" tIns="0" rIns="0" bIns="0" rtlCol="0" anchor="ctr"/>
          <a:lstStyle/>
          <a:p>
            <a:pPr indent="0" marL="0">
              <a:buNone/>
            </a:pPr>
            <a:r>
              <a:rPr lang="en-US" sz="2400" b="1" dirty="0">
                <a:solidFill>
                  <a:schemeClr val="tx1"/>
                </a:solidFill>
              </a:rPr>
              <a:t>Deploy</a:t>
            </a:r>
            <a:endParaRPr lang="en-US" sz="2400" dirty="0"/>
          </a:p>
        </p:txBody>
      </p:sp>
      <p:sp>
        <p:nvSpPr>
          <p:cNvPr id="19" name="Maintain card"/>
          <p:cNvSpPr/>
          <p:nvPr/>
        </p:nvSpPr>
        <p:spPr>
          <a:xfrm>
            <a:off x="9984486" y="2286000"/>
            <a:ext cx="1658569" cy="1737360"/>
          </a:xfrm>
          <a:prstGeom prst="roundRect">
            <a:avLst>
              <a:gd name="adj" fmla="val 6616"/>
            </a:avLst>
          </a:prstGeom>
          <a:solidFill>
            <a:schemeClr val="bg2"/>
          </a:solidFill>
          <a:ln w="12700">
            <a:solidFill>
              <a:schemeClr val="bg2"/>
            </a:solidFill>
            <a:prstDash val="solid"/>
          </a:ln>
        </p:spPr>
      </p:sp>
      <p:sp>
        <p:nvSpPr>
          <p:cNvPr id="20" name="Text 18"/>
          <p:cNvSpPr txBox="1"/>
          <p:nvPr/>
        </p:nvSpPr>
        <p:spPr>
          <a:xfrm>
            <a:off x="10213086" y="2560320"/>
            <a:ext cx="1201369" cy="411480"/>
          </a:xfrm>
          <a:prstGeom prst="rect">
            <a:avLst/>
          </a:prstGeom>
          <a:noFill/>
          <a:ln/>
        </p:spPr>
        <p:txBody>
          <a:bodyPr wrap="square" lIns="0" tIns="0" rIns="0" bIns="0" rtlCol="0" anchor="ctr"/>
          <a:lstStyle/>
          <a:p>
            <a:pPr indent="0" marL="0">
              <a:buNone/>
            </a:pPr>
            <a:r>
              <a:rPr lang="en-US" sz="1800" b="1" dirty="0">
                <a:solidFill>
                  <a:schemeClr val="accent2"/>
                </a:solidFill>
              </a:rPr>
              <a:t>6</a:t>
            </a:r>
            <a:endParaRPr lang="en-US" sz="1800" dirty="0"/>
          </a:p>
        </p:txBody>
      </p:sp>
      <p:sp>
        <p:nvSpPr>
          <p:cNvPr id="21" name="Text 19"/>
          <p:cNvSpPr txBox="1"/>
          <p:nvPr/>
        </p:nvSpPr>
        <p:spPr>
          <a:xfrm>
            <a:off x="10213086" y="3063240"/>
            <a:ext cx="1201369" cy="548640"/>
          </a:xfrm>
          <a:prstGeom prst="rect">
            <a:avLst/>
          </a:prstGeom>
          <a:noFill/>
          <a:ln/>
        </p:spPr>
        <p:txBody>
          <a:bodyPr wrap="square" lIns="0" tIns="0" rIns="0" bIns="0" rtlCol="0" anchor="ctr"/>
          <a:lstStyle/>
          <a:p>
            <a:pPr indent="0" marL="0">
              <a:buNone/>
            </a:pPr>
            <a:r>
              <a:rPr lang="en-US" sz="2400" b="1" dirty="0">
                <a:solidFill>
                  <a:schemeClr val="tx1"/>
                </a:solidFill>
              </a:rPr>
              <a:t>Maintain</a:t>
            </a:r>
            <a:endParaRPr lang="en-US" sz="2400" dirty="0"/>
          </a:p>
        </p:txBody>
      </p:sp>
      <p:sp>
        <p:nvSpPr>
          <p:cNvPr id="22" name="Text 20"/>
          <p:cNvSpPr txBox="1"/>
          <p:nvPr/>
        </p:nvSpPr>
        <p:spPr>
          <a:xfrm>
            <a:off x="548640" y="4846320"/>
            <a:ext cx="11094415" cy="731520"/>
          </a:xfrm>
          <a:prstGeom prst="rect">
            <a:avLst/>
          </a:prstGeom>
          <a:noFill/>
          <a:ln/>
        </p:spPr>
        <p:txBody>
          <a:bodyPr wrap="square" lIns="0" tIns="0" rIns="0" bIns="0" rtlCol="0" anchor="ctr"/>
          <a:lstStyle/>
          <a:p>
            <a:pPr indent="0" marL="0">
              <a:buNone/>
            </a:pPr>
            <a:r>
              <a:rPr lang="en-US" sz="2200" dirty="0">
                <a:solidFill>
                  <a:schemeClr val="tx2"/>
                </a:solidFill>
              </a:rPr>
              <a:t>The stages stay the same. What changes is how the work happens inside each one.</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4415"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THE SHIFT</a:t>
            </a:r>
            <a:endParaRPr lang="en-US" sz="1400" dirty="0"/>
          </a:p>
        </p:txBody>
      </p:sp>
      <p:sp>
        <p:nvSpPr>
          <p:cNvPr id="3" name="Text 0"/>
          <p:cNvSpPr/>
          <p:nvPr>
            <p:ph idx="101" type="title" hasCustomPrompt="1"/>
          </p:nvPr>
        </p:nvSpPr>
        <p:spPr>
          <a:xfrm>
            <a:off x="548640" y="82296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Traditional versus AI-native, stage by stage</a:t>
            </a:r>
            <a:endParaRPr lang="en-US" sz="3400" dirty="0"/>
          </a:p>
        </p:txBody>
      </p:sp>
      <p:graphicFrame>
        <p:nvGraphicFramePr>
          <p:cNvPr id="4" name="Comparison table"/>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1645920"/>
                <a:gridCol w="4480560"/>
                <a:gridCol w="4967935"/>
              </a:tblGrid>
              <a:tr h="566928">
                <a:tc>
                  <a:txBody>
                    <a:bodyPr/>
                    <a:lstStyle/>
                    <a:p>
                      <a:pPr indent="0" marL="0">
                        <a:buNone/>
                      </a:pPr>
                      <a:r>
                        <a:rPr lang="en-US" sz="1600" b="1" dirty="0">
                          <a:solidFill>
                            <a:schemeClr val="bg1"/>
                          </a:solidFill>
                        </a:rPr>
                        <a:t>Stage</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Traditional</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AI-native</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tx1"/>
                    </a:solidFill>
                  </a:tcPr>
                </a:tc>
              </a:tr>
              <a:tr h="566928">
                <a:tc>
                  <a:txBody>
                    <a:bodyPr/>
                    <a:lstStyle/>
                    <a:p>
                      <a:pPr indent="0" marL="0">
                        <a:buNone/>
                      </a:pPr>
                      <a:r>
                        <a:rPr lang="en-US" sz="1600" b="1" dirty="0">
                          <a:solidFill>
                            <a:schemeClr val="tx1"/>
                          </a:solidFill>
                        </a:rPr>
                        <a:t>Plan</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c>
                  <a:txBody>
                    <a:bodyPr/>
                    <a:lstStyle/>
                    <a:p>
                      <a:pPr indent="0" marL="0">
                        <a:buNone/>
                      </a:pPr>
                      <a:r>
                        <a:rPr lang="en-US" sz="1600" dirty="0">
                          <a:solidFill>
                            <a:schemeClr val="tx2"/>
                          </a:solidFill>
                        </a:rPr>
                        <a:t>Requirements gathered in workshops over weeks</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Agent captures pain points in intent.md in hours</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Design</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c>
                  <a:txBody>
                    <a:bodyPr/>
                    <a:lstStyle/>
                    <a:p>
                      <a:pPr indent="0" marL="0">
                        <a:buNone/>
                      </a:pPr>
                      <a:r>
                        <a:rPr lang="en-US" sz="1600" dirty="0">
                          <a:solidFill>
                            <a:schemeClr val="tx2"/>
                          </a:solidFill>
                        </a:rPr>
                        <a:t>Analysts write specs; designers interpret them</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Requirements and design in one session, guided by skills</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Build</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c>
                  <a:txBody>
                    <a:bodyPr/>
                    <a:lstStyle/>
                    <a:p>
                      <a:pPr indent="0" marL="0">
                        <a:buNone/>
                      </a:pPr>
                      <a:r>
                        <a:rPr lang="en-US" sz="1600" dirty="0">
                          <a:solidFill>
                            <a:schemeClr val="tx2"/>
                          </a:solidFill>
                        </a:rPr>
                        <a:t>Code, tests and docs written by hand</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AI generates code and tests; knowledge lives in AGENTS.md</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Test</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c>
                  <a:txBody>
                    <a:bodyPr/>
                    <a:lstStyle/>
                    <a:p>
                      <a:pPr indent="0" marL="0">
                        <a:buNone/>
                      </a:pPr>
                      <a:r>
                        <a:rPr lang="en-US" sz="1600" dirty="0">
                          <a:solidFill>
                            <a:schemeClr val="tx2"/>
                          </a:solidFill>
                        </a:rPr>
                        <a:t>QA gates at stage boundaries</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Continuous checks woven through the build</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Deploy</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c>
                  <a:txBody>
                    <a:bodyPr/>
                    <a:lstStyle/>
                    <a:p>
                      <a:pPr indent="0" marL="0">
                        <a:buNone/>
                      </a:pPr>
                      <a:r>
                        <a:rPr lang="en-US" sz="1600" dirty="0">
                          <a:solidFill>
                            <a:schemeClr val="tx2"/>
                          </a:solidFill>
                        </a:rPr>
                        <a:t>Humans review every line, often inconsistently</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AI reviews every PR; hooks enforce rules; humans approve</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Maintain</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c>
                  <a:txBody>
                    <a:bodyPr/>
                    <a:lstStyle/>
                    <a:p>
                      <a:pPr indent="0" marL="0">
                        <a:buNone/>
                      </a:pPr>
                      <a:r>
                        <a:rPr lang="en-US" sz="1600" dirty="0">
                          <a:solidFill>
                            <a:schemeClr val="tx2"/>
                          </a:solidFill>
                        </a:rPr>
                        <a:t>Humans watch production for bugs</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Agents watch; problems become a new intent.md</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4415"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THE MAP</a:t>
            </a:r>
            <a:endParaRPr lang="en-US" sz="1400" dirty="0"/>
          </a:p>
        </p:txBody>
      </p:sp>
      <p:sp>
        <p:nvSpPr>
          <p:cNvPr id="3" name="Text 0"/>
          <p:cNvSpPr/>
          <p:nvPr>
            <p:ph idx="101" type="title" hasCustomPrompt="1"/>
          </p:nvPr>
        </p:nvSpPr>
        <p:spPr>
          <a:xfrm>
            <a:off x="548640" y="82296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The AI-native SDLC at a glance</a:t>
            </a:r>
            <a:endParaRPr lang="en-US" sz="3400" dirty="0"/>
          </a:p>
        </p:txBody>
      </p:sp>
      <p:graphicFrame>
        <p:nvGraphicFramePr>
          <p:cNvPr id="5" name="At a glance table"/>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1371600"/>
                <a:gridCol w="2743200"/>
                <a:gridCol w="2377440"/>
                <a:gridCol w="4602175"/>
              </a:tblGrid>
              <a:tr h="512064">
                <a:tc>
                  <a:txBody>
                    <a:bodyPr/>
                    <a:lstStyle/>
                    <a:p>
                      <a:pPr indent="0" marL="0">
                        <a:buNone/>
                      </a:pPr>
                      <a:r>
                        <a:rPr lang="en-US" sz="1600" b="1" dirty="0">
                          <a:solidFill>
                            <a:schemeClr val="bg1"/>
                          </a:solidFill>
                        </a:rPr>
                        <a:t>Stage</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Deliverable</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Who</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Key idea</a:t>
                      </a:r>
                      <a:endParaRPr lang="en-US" sz="16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tx1"/>
                    </a:solidFill>
                  </a:tcPr>
                </a:tc>
              </a:tr>
              <a:tr h="512064">
                <a:tc>
                  <a:txBody>
                    <a:bodyPr/>
                    <a:lstStyle/>
                    <a:p>
                      <a:pPr indent="0" marL="0">
                        <a:buNone/>
                      </a:pPr>
                      <a:r>
                        <a:rPr lang="en-US" sz="1500" b="1" dirty="0">
                          <a:solidFill>
                            <a:schemeClr val="tx1"/>
                          </a:solidFill>
                        </a:rPr>
                        <a:t>Plan</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intent.md</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rPr>
                        <a:t>Product owner</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Capture the problem in a file people and agents can both read.</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r>
              <a:tr h="512064">
                <a:tc>
                  <a:txBody>
                    <a:bodyPr/>
                    <a:lstStyle/>
                    <a:p>
                      <a:pPr indent="0" marL="0">
                        <a:buNone/>
                      </a:pPr>
                      <a:r>
                        <a:rPr lang="en-US" sz="1500" b="1" dirty="0">
                          <a:solidFill>
                            <a:schemeClr val="tx1"/>
                          </a:solidFill>
                        </a:rPr>
                        <a:t>Design</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spec.md</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rPr>
                        <a:t>Product owner</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Requirements and design in one session, guided by skills.</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r>
              <a:tr h="512064">
                <a:tc>
                  <a:txBody>
                    <a:bodyPr/>
                    <a:lstStyle/>
                    <a:p>
                      <a:pPr indent="0" marL="0">
                        <a:buNone/>
                      </a:pPr>
                      <a:r>
                        <a:rPr lang="en-US" sz="1500" b="1" dirty="0">
                          <a:solidFill>
                            <a:schemeClr val="tx1"/>
                          </a:solidFill>
                        </a:rPr>
                        <a:t>Build</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plan.md, code and tests</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rPr>
                        <a:t>Engineers</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Plan first, then build with AGENTS.md, skills, hooks and subagents.</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r>
              <a:tr h="512064">
                <a:tc>
                  <a:txBody>
                    <a:bodyPr/>
                    <a:lstStyle/>
                    <a:p>
                      <a:pPr indent="0" marL="0">
                        <a:buNone/>
                      </a:pPr>
                      <a:r>
                        <a:rPr lang="en-US" sz="1500" b="1" dirty="0">
                          <a:solidFill>
                            <a:schemeClr val="tx1"/>
                          </a:solidFill>
                        </a:rPr>
                        <a:t>Test</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Passing tests and an eval suite</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rPr>
                        <a:t>Engineers, platform engineer</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The agent checks its own work, and its setup is regression-tested.</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r>
              <a:tr h="512064">
                <a:tc>
                  <a:txBody>
                    <a:bodyPr/>
                    <a:lstStyle/>
                    <a:p>
                      <a:pPr indent="0" marL="0">
                        <a:buNone/>
                      </a:pPr>
                      <a:r>
                        <a:rPr lang="en-US" sz="1500" b="1" dirty="0">
                          <a:solidFill>
                            <a:schemeClr val="tx1"/>
                          </a:solidFill>
                        </a:rPr>
                        <a:t>Deploy</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REVIEW.md, approval hooks</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rPr>
                        <a:t>Tech lead</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AI reviews every PR. Hooks enforce governance. Humans approve.</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1"/>
                    </a:solidFill>
                  </a:tcPr>
                </a:tc>
              </a:tr>
              <a:tr h="512064">
                <a:tc>
                  <a:txBody>
                    <a:bodyPr/>
                    <a:lstStyle/>
                    <a:p>
                      <a:pPr indent="0" marL="0">
                        <a:buNone/>
                      </a:pPr>
                      <a:r>
                        <a:rPr lang="en-US" sz="1500" b="1" dirty="0">
                          <a:solidFill>
                            <a:schemeClr val="tx1"/>
                          </a:solidFill>
                        </a:rPr>
                        <a:t>Maintain</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 new intent.md</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rPr>
                        <a:t>Service owner</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Problems in production re-enter the loop automatically.</a:t>
                      </a:r>
                      <a:endParaRPr lang="en-US" sz="1500" dirty="0"/>
                    </a:p>
                  </a:txBody>
                  <a:tcPr marL="91440" marR="91440" marT="91440" marB="9144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011680"/>
            <a:ext cx="11094415" cy="365760"/>
          </a:xfrm>
          <a:prstGeom prst="rect">
            <a:avLst/>
          </a:prstGeom>
          <a:noFill/>
          <a:ln/>
        </p:spPr>
        <p:txBody>
          <a:bodyPr wrap="square" lIns="0" tIns="0" rIns="0" bIns="0" rtlCol="0" anchor="ctr"/>
          <a:lstStyle/>
          <a:p>
            <a:pPr indent="0" marL="0">
              <a:buNone/>
            </a:pPr>
            <a:r>
              <a:rPr lang="en-US" sz="1600" b="1" spc="300" kern="0" dirty="0">
                <a:solidFill>
                  <a:schemeClr val="tx1"/>
                </a:solidFill>
              </a:rPr>
              <a:t>THE ONE RULE</a:t>
            </a:r>
            <a:endParaRPr lang="en-US" sz="1600" dirty="0"/>
          </a:p>
        </p:txBody>
      </p:sp>
      <p:sp>
        <p:nvSpPr>
          <p:cNvPr id="3" name="Text 1"/>
          <p:cNvSpPr txBox="1"/>
          <p:nvPr/>
        </p:nvSpPr>
        <p:spPr>
          <a:xfrm>
            <a:off x="548640" y="2514600"/>
            <a:ext cx="10058400" cy="2194560"/>
          </a:xfrm>
          <a:prstGeom prst="rect">
            <a:avLst/>
          </a:prstGeom>
          <a:noFill/>
          <a:ln/>
        </p:spPr>
        <p:txBody>
          <a:bodyPr wrap="square" lIns="0" tIns="0" rIns="0" bIns="0" rtlCol="0" anchor="t"/>
          <a:lstStyle/>
          <a:p>
            <a:pPr indent="0" marL="0">
              <a:buNone/>
            </a:pPr>
            <a:r>
              <a:rPr lang="en-US" sz="4800" b="1" dirty="0">
                <a:solidFill>
                  <a:schemeClr val="tx1"/>
                </a:solidFill>
              </a:rPr>
              <a:t>Humans are accountable for every decision that requires judgement.</a:t>
            </a:r>
            <a:endParaRPr lang="en-US" sz="4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4415"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STAGE 1 · PLAN</a:t>
            </a:r>
            <a:endParaRPr lang="en-US" sz="1400" dirty="0"/>
          </a:p>
        </p:txBody>
      </p:sp>
      <p:sp>
        <p:nvSpPr>
          <p:cNvPr id="3" name="Text 0"/>
          <p:cNvSpPr/>
          <p:nvPr>
            <p:ph idx="101" type="title" hasCustomPrompt="1"/>
          </p:nvPr>
        </p:nvSpPr>
        <p:spPr>
          <a:xfrm>
            <a:off x="548640" y="82296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Capture the problem in intent.md</a:t>
            </a:r>
            <a:endParaRPr lang="en-US" sz="3400" dirty="0"/>
          </a:p>
        </p:txBody>
      </p:sp>
      <p:sp>
        <p:nvSpPr>
          <p:cNvPr id="4" name="Label 1"/>
          <p:cNvSpPr txBox="1"/>
          <p:nvPr/>
        </p:nvSpPr>
        <p:spPr>
          <a:xfrm>
            <a:off x="548640" y="1783080"/>
            <a:ext cx="5120640" cy="274320"/>
          </a:xfrm>
          <a:prstGeom prst="rect">
            <a:avLst/>
          </a:prstGeom>
          <a:noFill/>
          <a:ln/>
        </p:spPr>
        <p:txBody>
          <a:bodyPr wrap="square" lIns="0" tIns="0" rIns="0" bIns="0" rtlCol="0" anchor="ctr"/>
          <a:lstStyle/>
          <a:p>
            <a:pPr indent="0" marL="0">
              <a:buNone/>
            </a:pPr>
            <a:r>
              <a:rPr lang="en-US" sz="1200" b="1" spc="200" kern="0" dirty="0">
                <a:solidFill>
                  <a:schemeClr val="tx2"/>
                </a:solidFill>
              </a:rPr>
              <a:t>WHO</a:t>
            </a:r>
            <a:endParaRPr lang="en-US" sz="1200" dirty="0"/>
          </a:p>
        </p:txBody>
      </p:sp>
      <p:sp>
        <p:nvSpPr>
          <p:cNvPr id="5" name="Value 1"/>
          <p:cNvSpPr txBox="1"/>
          <p:nvPr/>
        </p:nvSpPr>
        <p:spPr>
          <a:xfrm>
            <a:off x="548640" y="2075688"/>
            <a:ext cx="5120640" cy="960120"/>
          </a:xfrm>
          <a:prstGeom prst="rect">
            <a:avLst/>
          </a:prstGeom>
          <a:noFill/>
          <a:ln/>
        </p:spPr>
        <p:txBody>
          <a:bodyPr wrap="square" lIns="0" tIns="0" rIns="0" bIns="0" rtlCol="0" anchor="t"/>
          <a:lstStyle/>
          <a:p>
            <a:pPr indent="0" marL="0">
              <a:buNone/>
            </a:pPr>
            <a:r>
              <a:rPr lang="en-US" sz="1900" dirty="0">
                <a:solidFill>
                  <a:schemeClr val="tx1"/>
                </a:solidFill>
              </a:rPr>
              <a:t>The product owner, working with an agent</a:t>
            </a:r>
            <a:endParaRPr lang="en-US" sz="1900" dirty="0"/>
          </a:p>
        </p:txBody>
      </p:sp>
      <p:sp>
        <p:nvSpPr>
          <p:cNvPr id="6" name="Label 2"/>
          <p:cNvSpPr txBox="1"/>
          <p:nvPr/>
        </p:nvSpPr>
        <p:spPr>
          <a:xfrm>
            <a:off x="548640" y="3246120"/>
            <a:ext cx="5120640" cy="274320"/>
          </a:xfrm>
          <a:prstGeom prst="rect">
            <a:avLst/>
          </a:prstGeom>
          <a:noFill/>
          <a:ln/>
        </p:spPr>
        <p:txBody>
          <a:bodyPr wrap="square" lIns="0" tIns="0" rIns="0" bIns="0" rtlCol="0" anchor="ctr"/>
          <a:lstStyle/>
          <a:p>
            <a:pPr indent="0" marL="0">
              <a:buNone/>
            </a:pPr>
            <a:r>
              <a:rPr lang="en-US" sz="1200" b="1" spc="200" kern="0" dirty="0">
                <a:solidFill>
                  <a:schemeClr val="tx2"/>
                </a:solidFill>
              </a:rPr>
              <a:t>HOW</a:t>
            </a:r>
            <a:endParaRPr lang="en-US" sz="1200" dirty="0"/>
          </a:p>
        </p:txBody>
      </p:sp>
      <p:sp>
        <p:nvSpPr>
          <p:cNvPr id="7" name="Value 2"/>
          <p:cNvSpPr txBox="1"/>
          <p:nvPr/>
        </p:nvSpPr>
        <p:spPr>
          <a:xfrm>
            <a:off x="548640" y="3538728"/>
            <a:ext cx="5120640" cy="960120"/>
          </a:xfrm>
          <a:prstGeom prst="rect">
            <a:avLst/>
          </a:prstGeom>
          <a:noFill/>
          <a:ln/>
        </p:spPr>
        <p:txBody>
          <a:bodyPr wrap="square" lIns="0" tIns="0" rIns="0" bIns="0" rtlCol="0" anchor="t"/>
          <a:lstStyle/>
          <a:p>
            <a:pPr indent="0" marL="0">
              <a:buNone/>
            </a:pPr>
            <a:r>
              <a:rPr lang="en-US" sz="1900" dirty="0">
                <a:solidFill>
                  <a:schemeClr val="tx1"/>
                </a:solidFill>
              </a:rPr>
              <a:t>Brainstorm until the idea is concrete. The agent asks what an analyst would: scope, users, constraints, success.</a:t>
            </a:r>
            <a:endParaRPr lang="en-US" sz="1900" dirty="0"/>
          </a:p>
        </p:txBody>
      </p:sp>
      <p:sp>
        <p:nvSpPr>
          <p:cNvPr id="8" name="Label 3"/>
          <p:cNvSpPr txBox="1"/>
          <p:nvPr/>
        </p:nvSpPr>
        <p:spPr>
          <a:xfrm>
            <a:off x="548640" y="4709160"/>
            <a:ext cx="5120640" cy="274320"/>
          </a:xfrm>
          <a:prstGeom prst="rect">
            <a:avLst/>
          </a:prstGeom>
          <a:noFill/>
          <a:ln/>
        </p:spPr>
        <p:txBody>
          <a:bodyPr wrap="square" lIns="0" tIns="0" rIns="0" bIns="0" rtlCol="0" anchor="ctr"/>
          <a:lstStyle/>
          <a:p>
            <a:pPr indent="0" marL="0">
              <a:buNone/>
            </a:pPr>
            <a:r>
              <a:rPr lang="en-US" sz="1200" b="1" spc="200" kern="0" dirty="0">
                <a:solidFill>
                  <a:schemeClr val="tx2"/>
                </a:solidFill>
              </a:rPr>
              <a:t>WHY IT MATTERS</a:t>
            </a:r>
            <a:endParaRPr lang="en-US" sz="1200" dirty="0"/>
          </a:p>
        </p:txBody>
      </p:sp>
      <p:sp>
        <p:nvSpPr>
          <p:cNvPr id="9" name="Value 3"/>
          <p:cNvSpPr txBox="1"/>
          <p:nvPr/>
        </p:nvSpPr>
        <p:spPr>
          <a:xfrm>
            <a:off x="548640" y="5001768"/>
            <a:ext cx="5120640" cy="960120"/>
          </a:xfrm>
          <a:prstGeom prst="rect">
            <a:avLst/>
          </a:prstGeom>
          <a:noFill/>
          <a:ln/>
        </p:spPr>
        <p:txBody>
          <a:bodyPr wrap="square" lIns="0" tIns="0" rIns="0" bIns="0" rtlCol="0" anchor="t"/>
          <a:lstStyle/>
          <a:p>
            <a:pPr indent="0" marL="0">
              <a:buNone/>
            </a:pPr>
            <a:r>
              <a:rPr lang="en-US" sz="1900" dirty="0">
                <a:solidFill>
                  <a:schemeClr val="tx1"/>
                </a:solidFill>
              </a:rPr>
              <a:t>Weeks of workshops become hours. The file is readable by people and usable by agents.</a:t>
            </a:r>
            <a:endParaRPr lang="en-US" sz="1900" dirty="0"/>
          </a:p>
        </p:txBody>
      </p:sp>
      <p:sp>
        <p:nvSpPr>
          <p:cNvPr id="10" name="Code card"/>
          <p:cNvSpPr/>
          <p:nvPr/>
        </p:nvSpPr>
        <p:spPr>
          <a:xfrm>
            <a:off x="6126480" y="1783080"/>
            <a:ext cx="5516575" cy="4434840"/>
          </a:xfrm>
          <a:prstGeom prst="roundRect">
            <a:avLst>
              <a:gd name="adj" fmla="val 2474"/>
            </a:avLst>
          </a:prstGeom>
          <a:solidFill>
            <a:schemeClr val="tx1"/>
          </a:solidFill>
          <a:ln w="12700">
            <a:solidFill>
              <a:schemeClr val="tx1"/>
            </a:solidFill>
            <a:prstDash val="solid"/>
          </a:ln>
        </p:spPr>
      </p:sp>
      <p:sp>
        <p:nvSpPr>
          <p:cNvPr id="11" name="Code"/>
          <p:cNvSpPr txBox="1"/>
          <p:nvPr/>
        </p:nvSpPr>
        <p:spPr>
          <a:xfrm>
            <a:off x="6446520" y="2057400"/>
            <a:ext cx="4876495" cy="3886200"/>
          </a:xfrm>
          <a:prstGeom prst="rect">
            <a:avLst/>
          </a:prstGeom>
          <a:noFill/>
          <a:ln/>
        </p:spPr>
        <p:txBody>
          <a:bodyPr wrap="square" lIns="0" tIns="0" rIns="0" bIns="0" rtlCol="0" anchor="t"/>
          <a:lstStyle/>
          <a:p>
            <a:pPr indent="0" marL="0">
              <a:lnSpc>
                <a:spcPct val="115000"/>
              </a:lnSpc>
              <a:buNone/>
            </a:pPr>
            <a:r>
              <a:rPr lang="en-US" sz="1400" dirty="0">
                <a:solidFill>
                  <a:schemeClr val="accent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Intent: claims status self-service</a:t>
            </a:r>
            <a:endParaRPr lang="en-US" sz="1400" dirty="0"/>
          </a:p>
          <a:p>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Author: J. Doe. Status: draft.</a:t>
            </a:r>
            <a:endParaRPr lang="en-US" sz="1400" dirty="0"/>
          </a:p>
          <a:p>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 </a:t>
            </a:r>
            <a:endParaRPr lang="en-US" sz="1400" dirty="0"/>
          </a:p>
          <a:p>
            <a:pPr indent="0" marL="0">
              <a:lnSpc>
                <a:spcPct val="115000"/>
              </a:lnSpc>
              <a:buNone/>
            </a:pPr>
            <a:r>
              <a:rPr lang="en-US" sz="1400" dirty="0">
                <a:solidFill>
                  <a:schemeClr val="accent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Problem</a:t>
            </a:r>
            <a:endParaRPr lang="en-US" sz="1400" dirty="0"/>
          </a:p>
          <a:p>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Customers phone to ask where their claim is.</a:t>
            </a:r>
            <a:endParaRPr lang="en-US" sz="1400" dirty="0"/>
          </a:p>
          <a:p>
            <a:pPr indent="0" marL="0">
              <a:lnSpc>
                <a:spcPct val="115000"/>
              </a:lnSpc>
              <a:buNone/>
            </a:pPr>
            <a:r>
              <a:rPr lang="en-US" sz="1400" dirty="0">
                <a:solidFill>
                  <a:schemeClr val="accent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Proposed outcome</a:t>
            </a:r>
            <a:endParaRPr lang="en-US" sz="1400" dirty="0"/>
          </a:p>
          <a:p>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Status, next step and date in the portal.</a:t>
            </a:r>
            <a:endParaRPr lang="en-US" sz="1400" dirty="0"/>
          </a:p>
          <a:p>
            <a:pPr indent="0" marL="0">
              <a:lnSpc>
                <a:spcPct val="115000"/>
              </a:lnSpc>
              <a:buNone/>
            </a:pPr>
            <a:r>
              <a:rPr lang="en-US" sz="1400" dirty="0">
                <a:solidFill>
                  <a:schemeClr val="accent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Affected users and systems</a:t>
            </a:r>
            <a:endParaRPr lang="en-US" sz="1400" dirty="0"/>
          </a:p>
          <a:p>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Claims handlers, portal, claims-core API.</a:t>
            </a:r>
            <a:endParaRPr lang="en-US" sz="1400" dirty="0"/>
          </a:p>
          <a:p>
            <a:pPr indent="0" marL="0">
              <a:lnSpc>
                <a:spcPct val="115000"/>
              </a:lnSpc>
              <a:buNone/>
            </a:pPr>
            <a:r>
              <a:rPr lang="en-US" sz="1400" dirty="0">
                <a:solidFill>
                  <a:schemeClr val="accent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Constraints</a:t>
            </a:r>
            <a:endParaRPr lang="en-US" sz="1400" dirty="0"/>
          </a:p>
          <a:p>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No new PII. Existing authentication only.</a:t>
            </a:r>
            <a:endParaRPr lang="en-US" sz="1400" dirty="0"/>
          </a:p>
          <a:p>
            <a:pPr indent="0" marL="0">
              <a:lnSpc>
                <a:spcPct val="115000"/>
              </a:lnSpc>
              <a:buNone/>
            </a:pPr>
            <a:r>
              <a:rPr lang="en-US" sz="1400" dirty="0">
                <a:solidFill>
                  <a:schemeClr val="accent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Open questions</a:t>
            </a:r>
            <a:endParaRPr lang="en-US" sz="1400" dirty="0"/>
          </a:p>
          <a:p>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Do loss adjusters need access too?</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4415"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STAGE 2 · DESIGN</a:t>
            </a:r>
            <a:endParaRPr lang="en-US" sz="1400" dirty="0"/>
          </a:p>
        </p:txBody>
      </p:sp>
      <p:sp>
        <p:nvSpPr>
          <p:cNvPr id="3" name="Text 0"/>
          <p:cNvSpPr/>
          <p:nvPr>
            <p:ph idx="101" type="title" hasCustomPrompt="1"/>
          </p:nvPr>
        </p:nvSpPr>
        <p:spPr>
          <a:xfrm>
            <a:off x="548640" y="82296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Turn the intent into spec.md in one session</a:t>
            </a:r>
            <a:endParaRPr lang="en-US" sz="3400" dirty="0"/>
          </a:p>
        </p:txBody>
      </p:sp>
      <p:sp>
        <p:nvSpPr>
          <p:cNvPr id="4" name="Label 1"/>
          <p:cNvSpPr txBox="1"/>
          <p:nvPr/>
        </p:nvSpPr>
        <p:spPr>
          <a:xfrm>
            <a:off x="548640" y="1783080"/>
            <a:ext cx="5120640" cy="274320"/>
          </a:xfrm>
          <a:prstGeom prst="rect">
            <a:avLst/>
          </a:prstGeom>
          <a:noFill/>
          <a:ln/>
        </p:spPr>
        <p:txBody>
          <a:bodyPr wrap="square" lIns="0" tIns="0" rIns="0" bIns="0" rtlCol="0" anchor="ctr"/>
          <a:lstStyle/>
          <a:p>
            <a:pPr indent="0" marL="0">
              <a:buNone/>
            </a:pPr>
            <a:r>
              <a:rPr lang="en-US" sz="1200" b="1" spc="200" kern="0" dirty="0">
                <a:solidFill>
                  <a:schemeClr val="tx2"/>
                </a:solidFill>
              </a:rPr>
              <a:t>WHO</a:t>
            </a:r>
            <a:endParaRPr lang="en-US" sz="1200" dirty="0"/>
          </a:p>
        </p:txBody>
      </p:sp>
      <p:sp>
        <p:nvSpPr>
          <p:cNvPr id="5" name="Value 1"/>
          <p:cNvSpPr txBox="1"/>
          <p:nvPr/>
        </p:nvSpPr>
        <p:spPr>
          <a:xfrm>
            <a:off x="548640" y="2075688"/>
            <a:ext cx="5120640" cy="960120"/>
          </a:xfrm>
          <a:prstGeom prst="rect">
            <a:avLst/>
          </a:prstGeom>
          <a:noFill/>
          <a:ln/>
        </p:spPr>
        <p:txBody>
          <a:bodyPr wrap="square" lIns="0" tIns="0" rIns="0" bIns="0" rtlCol="0" anchor="t"/>
          <a:lstStyle/>
          <a:p>
            <a:pPr indent="0" marL="0">
              <a:buNone/>
            </a:pPr>
            <a:r>
              <a:rPr lang="en-US" sz="1900" dirty="0">
                <a:solidFill>
                  <a:schemeClr val="tx1"/>
                </a:solidFill>
              </a:rPr>
              <a:t>The product owner, starting from the accepted intent.md</a:t>
            </a:r>
            <a:endParaRPr lang="en-US" sz="1900" dirty="0"/>
          </a:p>
        </p:txBody>
      </p:sp>
      <p:sp>
        <p:nvSpPr>
          <p:cNvPr id="6" name="Label 2"/>
          <p:cNvSpPr txBox="1"/>
          <p:nvPr/>
        </p:nvSpPr>
        <p:spPr>
          <a:xfrm>
            <a:off x="548640" y="3246120"/>
            <a:ext cx="5120640" cy="274320"/>
          </a:xfrm>
          <a:prstGeom prst="rect">
            <a:avLst/>
          </a:prstGeom>
          <a:noFill/>
          <a:ln/>
        </p:spPr>
        <p:txBody>
          <a:bodyPr wrap="square" lIns="0" tIns="0" rIns="0" bIns="0" rtlCol="0" anchor="ctr"/>
          <a:lstStyle/>
          <a:p>
            <a:pPr indent="0" marL="0">
              <a:buNone/>
            </a:pPr>
            <a:r>
              <a:rPr lang="en-US" sz="1200" b="1" spc="200" kern="0" dirty="0">
                <a:solidFill>
                  <a:schemeClr val="tx2"/>
                </a:solidFill>
              </a:rPr>
              <a:t>HOW</a:t>
            </a:r>
            <a:endParaRPr lang="en-US" sz="1200" dirty="0"/>
          </a:p>
        </p:txBody>
      </p:sp>
      <p:sp>
        <p:nvSpPr>
          <p:cNvPr id="7" name="Value 2"/>
          <p:cNvSpPr txBox="1"/>
          <p:nvPr/>
        </p:nvSpPr>
        <p:spPr>
          <a:xfrm>
            <a:off x="548640" y="3538728"/>
            <a:ext cx="5120640" cy="960120"/>
          </a:xfrm>
          <a:prstGeom prst="rect">
            <a:avLst/>
          </a:prstGeom>
          <a:noFill/>
          <a:ln/>
        </p:spPr>
        <p:txBody>
          <a:bodyPr wrap="square" lIns="0" tIns="0" rIns="0" bIns="0" rtlCol="0" anchor="t"/>
          <a:lstStyle/>
          <a:p>
            <a:pPr indent="0" marL="0">
              <a:buNone/>
            </a:pPr>
            <a:r>
              <a:rPr lang="en-US" sz="1900" dirty="0">
                <a:solidFill>
                  <a:schemeClr val="tx1"/>
                </a:solidFill>
              </a:rPr>
              <a:t>Skills apply brand, security and UX standards. The agent flags policies that contradict each other.</a:t>
            </a:r>
            <a:endParaRPr lang="en-US" sz="1900" dirty="0"/>
          </a:p>
        </p:txBody>
      </p:sp>
      <p:sp>
        <p:nvSpPr>
          <p:cNvPr id="8" name="Label 3"/>
          <p:cNvSpPr txBox="1"/>
          <p:nvPr/>
        </p:nvSpPr>
        <p:spPr>
          <a:xfrm>
            <a:off x="548640" y="4709160"/>
            <a:ext cx="5120640" cy="274320"/>
          </a:xfrm>
          <a:prstGeom prst="rect">
            <a:avLst/>
          </a:prstGeom>
          <a:noFill/>
          <a:ln/>
        </p:spPr>
        <p:txBody>
          <a:bodyPr wrap="square" lIns="0" tIns="0" rIns="0" bIns="0" rtlCol="0" anchor="ctr"/>
          <a:lstStyle/>
          <a:p>
            <a:pPr indent="0" marL="0">
              <a:buNone/>
            </a:pPr>
            <a:r>
              <a:rPr lang="en-US" sz="1200" b="1" spc="200" kern="0" dirty="0">
                <a:solidFill>
                  <a:schemeClr val="tx2"/>
                </a:solidFill>
              </a:rPr>
              <a:t>OUTPUT</a:t>
            </a:r>
            <a:endParaRPr lang="en-US" sz="1200" dirty="0"/>
          </a:p>
        </p:txBody>
      </p:sp>
      <p:sp>
        <p:nvSpPr>
          <p:cNvPr id="9" name="Value 3"/>
          <p:cNvSpPr txBox="1"/>
          <p:nvPr/>
        </p:nvSpPr>
        <p:spPr>
          <a:xfrm>
            <a:off x="548640" y="5001768"/>
            <a:ext cx="5120640" cy="960120"/>
          </a:xfrm>
          <a:prstGeom prst="rect">
            <a:avLst/>
          </a:prstGeom>
          <a:noFill/>
          <a:ln/>
        </p:spPr>
        <p:txBody>
          <a:bodyPr wrap="square" lIns="0" tIns="0" rIns="0" bIns="0" rtlCol="0" anchor="t"/>
          <a:lstStyle/>
          <a:p>
            <a:pPr indent="0" marL="0">
              <a:buNone/>
            </a:pPr>
            <a:r>
              <a:rPr lang="en-US" sz="1900" dirty="0">
                <a:solidFill>
                  <a:schemeClr val="tx1"/>
                </a:solidFill>
              </a:rPr>
              <a:t>Numbered requirements, a design, and areas of concern with owners</a:t>
            </a:r>
            <a:endParaRPr lang="en-US" sz="1900" dirty="0"/>
          </a:p>
        </p:txBody>
      </p:sp>
      <p:sp>
        <p:nvSpPr>
          <p:cNvPr id="10" name="Text 8"/>
          <p:cNvSpPr txBox="1"/>
          <p:nvPr/>
        </p:nvSpPr>
        <p:spPr>
          <a:xfrm>
            <a:off x="6126480" y="1783080"/>
            <a:ext cx="5516575" cy="274320"/>
          </a:xfrm>
          <a:prstGeom prst="rect">
            <a:avLst/>
          </a:prstGeom>
          <a:noFill/>
          <a:ln/>
        </p:spPr>
        <p:txBody>
          <a:bodyPr wrap="square" lIns="0" tIns="0" rIns="0" bIns="0" rtlCol="0" anchor="ctr"/>
          <a:lstStyle/>
          <a:p>
            <a:pPr indent="0" marL="0">
              <a:buNone/>
            </a:pPr>
            <a:r>
              <a:rPr lang="en-US" sz="1200" b="1" spc="200" kern="0" dirty="0">
                <a:solidFill>
                  <a:schemeClr val="tx2"/>
                </a:solidFill>
              </a:rPr>
              <a:t>THE PATH TO AUTOMATION</a:t>
            </a:r>
            <a:endParaRPr lang="en-US" sz="1200" dirty="0"/>
          </a:p>
        </p:txBody>
      </p:sp>
      <p:sp>
        <p:nvSpPr>
          <p:cNvPr id="11" name="Step 1"/>
          <p:cNvSpPr/>
          <p:nvPr/>
        </p:nvSpPr>
        <p:spPr>
          <a:xfrm>
            <a:off x="6126480" y="2240280"/>
            <a:ext cx="5516575" cy="1188720"/>
          </a:xfrm>
          <a:prstGeom prst="roundRect">
            <a:avLst>
              <a:gd name="adj" fmla="val 9231"/>
            </a:avLst>
          </a:prstGeom>
          <a:solidFill>
            <a:schemeClr val="bg2"/>
          </a:solidFill>
          <a:ln w="12700">
            <a:solidFill>
              <a:schemeClr val="bg2"/>
            </a:solidFill>
            <a:prstDash val="solid"/>
          </a:ln>
        </p:spPr>
      </p:sp>
      <p:sp>
        <p:nvSpPr>
          <p:cNvPr id="12" name="Text 10"/>
          <p:cNvSpPr txBox="1"/>
          <p:nvPr/>
        </p:nvSpPr>
        <p:spPr>
          <a:xfrm>
            <a:off x="6400800" y="2240280"/>
            <a:ext cx="548640" cy="1188720"/>
          </a:xfrm>
          <a:prstGeom prst="rect">
            <a:avLst/>
          </a:prstGeom>
          <a:noFill/>
          <a:ln/>
        </p:spPr>
        <p:txBody>
          <a:bodyPr wrap="square" lIns="0" tIns="0" rIns="0" bIns="0" rtlCol="0" anchor="ctr"/>
          <a:lstStyle/>
          <a:p>
            <a:pPr indent="0" marL="0">
              <a:buNone/>
            </a:pPr>
            <a:r>
              <a:rPr lang="en-US" sz="3200" b="1" dirty="0">
                <a:solidFill>
                  <a:schemeClr val="accent2"/>
                </a:solidFill>
              </a:rPr>
              <a:t>1</a:t>
            </a:r>
            <a:endParaRPr lang="en-US" sz="3200" dirty="0"/>
          </a:p>
        </p:txBody>
      </p:sp>
      <p:sp>
        <p:nvSpPr>
          <p:cNvPr id="13" name="Text 11"/>
          <p:cNvSpPr txBox="1"/>
          <p:nvPr/>
        </p:nvSpPr>
        <p:spPr>
          <a:xfrm>
            <a:off x="7040880" y="2240280"/>
            <a:ext cx="4389120" cy="1188720"/>
          </a:xfrm>
          <a:prstGeom prst="rect">
            <a:avLst/>
          </a:prstGeom>
          <a:noFill/>
          <a:ln/>
        </p:spPr>
        <p:txBody>
          <a:bodyPr wrap="square" lIns="0" tIns="0" rIns="0" bIns="0" rtlCol="0" anchor="ctr"/>
          <a:lstStyle/>
          <a:p>
            <a:pPr indent="0" marL="0">
              <a:buNone/>
            </a:pPr>
            <a:r>
              <a:rPr lang="en-US" sz="1800" dirty="0">
                <a:solidFill>
                  <a:schemeClr val="tx1"/>
                </a:solidFill>
              </a:rPr>
              <a:t>Run the prompt by hand until results are reliable</a:t>
            </a:r>
            <a:endParaRPr lang="en-US" sz="1800" dirty="0"/>
          </a:p>
        </p:txBody>
      </p:sp>
      <p:sp>
        <p:nvSpPr>
          <p:cNvPr id="14" name="Step 2"/>
          <p:cNvSpPr/>
          <p:nvPr/>
        </p:nvSpPr>
        <p:spPr>
          <a:xfrm>
            <a:off x="6126480" y="3611880"/>
            <a:ext cx="5516575" cy="1188720"/>
          </a:xfrm>
          <a:prstGeom prst="roundRect">
            <a:avLst>
              <a:gd name="adj" fmla="val 9231"/>
            </a:avLst>
          </a:prstGeom>
          <a:solidFill>
            <a:schemeClr val="bg2"/>
          </a:solidFill>
          <a:ln w="12700">
            <a:solidFill>
              <a:schemeClr val="bg2"/>
            </a:solidFill>
            <a:prstDash val="solid"/>
          </a:ln>
        </p:spPr>
      </p:sp>
      <p:sp>
        <p:nvSpPr>
          <p:cNvPr id="15" name="Text 13"/>
          <p:cNvSpPr txBox="1"/>
          <p:nvPr/>
        </p:nvSpPr>
        <p:spPr>
          <a:xfrm>
            <a:off x="6400800" y="3611880"/>
            <a:ext cx="548640" cy="1188720"/>
          </a:xfrm>
          <a:prstGeom prst="rect">
            <a:avLst/>
          </a:prstGeom>
          <a:noFill/>
          <a:ln/>
        </p:spPr>
        <p:txBody>
          <a:bodyPr wrap="square" lIns="0" tIns="0" rIns="0" bIns="0" rtlCol="0" anchor="ctr"/>
          <a:lstStyle/>
          <a:p>
            <a:pPr indent="0" marL="0">
              <a:buNone/>
            </a:pPr>
            <a:r>
              <a:rPr lang="en-US" sz="3200" b="1" dirty="0">
                <a:solidFill>
                  <a:schemeClr val="accent2"/>
                </a:solidFill>
              </a:rPr>
              <a:t>2</a:t>
            </a:r>
            <a:endParaRPr lang="en-US" sz="3200" dirty="0"/>
          </a:p>
        </p:txBody>
      </p:sp>
      <p:sp>
        <p:nvSpPr>
          <p:cNvPr id="16" name="Text 14"/>
          <p:cNvSpPr txBox="1"/>
          <p:nvPr/>
        </p:nvSpPr>
        <p:spPr>
          <a:xfrm>
            <a:off x="7040880" y="3611880"/>
            <a:ext cx="4389120" cy="1188720"/>
          </a:xfrm>
          <a:prstGeom prst="rect">
            <a:avLst/>
          </a:prstGeom>
          <a:noFill/>
          <a:ln/>
        </p:spPr>
        <p:txBody>
          <a:bodyPr wrap="square" lIns="0" tIns="0" rIns="0" bIns="0" rtlCol="0" anchor="ctr"/>
          <a:lstStyle/>
          <a:p>
            <a:pPr indent="0" marL="0">
              <a:buNone/>
            </a:pPr>
            <a:r>
              <a:rPr lang="en-US" sz="1800" dirty="0">
                <a:solidFill>
                  <a:schemeClr val="tx1"/>
                </a:solidFill>
              </a:rPr>
              <a:t>Save it as an organization-wide /spec command</a:t>
            </a:r>
            <a:endParaRPr lang="en-US" sz="1800" dirty="0"/>
          </a:p>
        </p:txBody>
      </p:sp>
      <p:sp>
        <p:nvSpPr>
          <p:cNvPr id="17" name="Step 3"/>
          <p:cNvSpPr/>
          <p:nvPr/>
        </p:nvSpPr>
        <p:spPr>
          <a:xfrm>
            <a:off x="6126480" y="4983480"/>
            <a:ext cx="5516575" cy="1188720"/>
          </a:xfrm>
          <a:prstGeom prst="roundRect">
            <a:avLst>
              <a:gd name="adj" fmla="val 9231"/>
            </a:avLst>
          </a:prstGeom>
          <a:solidFill>
            <a:schemeClr val="tx1"/>
          </a:solidFill>
          <a:ln w="12700">
            <a:solidFill>
              <a:schemeClr val="tx1"/>
            </a:solidFill>
            <a:prstDash val="solid"/>
          </a:ln>
        </p:spPr>
      </p:sp>
      <p:sp>
        <p:nvSpPr>
          <p:cNvPr id="18" name="Text 16"/>
          <p:cNvSpPr txBox="1"/>
          <p:nvPr/>
        </p:nvSpPr>
        <p:spPr>
          <a:xfrm>
            <a:off x="6400800" y="4983480"/>
            <a:ext cx="548640" cy="1188720"/>
          </a:xfrm>
          <a:prstGeom prst="rect">
            <a:avLst/>
          </a:prstGeom>
          <a:noFill/>
          <a:ln/>
        </p:spPr>
        <p:txBody>
          <a:bodyPr wrap="square" lIns="0" tIns="0" rIns="0" bIns="0" rtlCol="0" anchor="ctr"/>
          <a:lstStyle/>
          <a:p>
            <a:pPr indent="0" marL="0">
              <a:buNone/>
            </a:pPr>
            <a:r>
              <a:rPr lang="en-US" sz="3200" b="1" dirty="0">
                <a:solidFill>
                  <a:schemeClr val="accent1"/>
                </a:solidFill>
              </a:rPr>
              <a:t>3</a:t>
            </a:r>
            <a:endParaRPr lang="en-US" sz="3200" dirty="0"/>
          </a:p>
        </p:txBody>
      </p:sp>
      <p:sp>
        <p:nvSpPr>
          <p:cNvPr id="19" name="Text 17"/>
          <p:cNvSpPr txBox="1"/>
          <p:nvPr/>
        </p:nvSpPr>
        <p:spPr>
          <a:xfrm>
            <a:off x="7040880" y="4983480"/>
            <a:ext cx="4389120" cy="1188720"/>
          </a:xfrm>
          <a:prstGeom prst="rect">
            <a:avLst/>
          </a:prstGeom>
          <a:noFill/>
          <a:ln/>
        </p:spPr>
        <p:txBody>
          <a:bodyPr wrap="square" lIns="0" tIns="0" rIns="0" bIns="0" rtlCol="0" anchor="ctr"/>
          <a:lstStyle/>
          <a:p>
            <a:pPr indent="0" marL="0">
              <a:buNone/>
            </a:pPr>
            <a:r>
              <a:rPr lang="en-US" sz="1800" dirty="0">
                <a:solidFill>
                  <a:schemeClr val="bg1"/>
                </a:solidFill>
              </a:rPr>
              <a:t>Merging an intent.md triggers a job that opens spec.md as a PR</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4415"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STAGE 3 · BUILD</a:t>
            </a:r>
            <a:endParaRPr lang="en-US" sz="1400" dirty="0"/>
          </a:p>
        </p:txBody>
      </p:sp>
      <p:sp>
        <p:nvSpPr>
          <p:cNvPr id="3" name="Text 0"/>
          <p:cNvSpPr/>
          <p:nvPr>
            <p:ph idx="101" type="title" hasCustomPrompt="1"/>
          </p:nvPr>
        </p:nvSpPr>
        <p:spPr>
          <a:xfrm>
            <a:off x="548640" y="82296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Plan first, then build with the team’s knowledge</a:t>
            </a:r>
            <a:endParaRPr lang="en-US" sz="3400" dirty="0"/>
          </a:p>
        </p:txBody>
      </p:sp>
      <p:sp>
        <p:nvSpPr>
          <p:cNvPr id="4" name="Label 1"/>
          <p:cNvSpPr txBox="1"/>
          <p:nvPr/>
        </p:nvSpPr>
        <p:spPr>
          <a:xfrm>
            <a:off x="548640" y="1783080"/>
            <a:ext cx="5120640" cy="274320"/>
          </a:xfrm>
          <a:prstGeom prst="rect">
            <a:avLst/>
          </a:prstGeom>
          <a:noFill/>
          <a:ln/>
        </p:spPr>
        <p:txBody>
          <a:bodyPr wrap="square" lIns="0" tIns="0" rIns="0" bIns="0" rtlCol="0" anchor="ctr"/>
          <a:lstStyle/>
          <a:p>
            <a:pPr indent="0" marL="0">
              <a:buNone/>
            </a:pPr>
            <a:r>
              <a:rPr lang="en-US" sz="1200" b="1" spc="200" kern="0" dirty="0">
                <a:solidFill>
                  <a:schemeClr val="tx2"/>
                </a:solidFill>
              </a:rPr>
              <a:t>WHO</a:t>
            </a:r>
            <a:endParaRPr lang="en-US" sz="1200" dirty="0"/>
          </a:p>
        </p:txBody>
      </p:sp>
      <p:sp>
        <p:nvSpPr>
          <p:cNvPr id="5" name="Value 1"/>
          <p:cNvSpPr txBox="1"/>
          <p:nvPr/>
        </p:nvSpPr>
        <p:spPr>
          <a:xfrm>
            <a:off x="548640" y="2075688"/>
            <a:ext cx="5120640" cy="960120"/>
          </a:xfrm>
          <a:prstGeom prst="rect">
            <a:avLst/>
          </a:prstGeom>
          <a:noFill/>
          <a:ln/>
        </p:spPr>
        <p:txBody>
          <a:bodyPr wrap="square" lIns="0" tIns="0" rIns="0" bIns="0" rtlCol="0" anchor="t"/>
          <a:lstStyle/>
          <a:p>
            <a:pPr indent="0" marL="0">
              <a:buNone/>
            </a:pPr>
            <a:r>
              <a:rPr lang="en-US" sz="1900" dirty="0">
                <a:solidFill>
                  <a:schemeClr val="tx1"/>
                </a:solidFill>
              </a:rPr>
              <a:t>Engineers</a:t>
            </a:r>
            <a:endParaRPr lang="en-US" sz="1900" dirty="0"/>
          </a:p>
        </p:txBody>
      </p:sp>
      <p:sp>
        <p:nvSpPr>
          <p:cNvPr id="6" name="Label 2"/>
          <p:cNvSpPr txBox="1"/>
          <p:nvPr/>
        </p:nvSpPr>
        <p:spPr>
          <a:xfrm>
            <a:off x="548640" y="3246120"/>
            <a:ext cx="5120640" cy="274320"/>
          </a:xfrm>
          <a:prstGeom prst="rect">
            <a:avLst/>
          </a:prstGeom>
          <a:noFill/>
          <a:ln/>
        </p:spPr>
        <p:txBody>
          <a:bodyPr wrap="square" lIns="0" tIns="0" rIns="0" bIns="0" rtlCol="0" anchor="ctr"/>
          <a:lstStyle/>
          <a:p>
            <a:pPr indent="0" marL="0">
              <a:buNone/>
            </a:pPr>
            <a:r>
              <a:rPr lang="en-US" sz="1200" b="1" spc="200" kern="0" dirty="0">
                <a:solidFill>
                  <a:schemeClr val="tx2"/>
                </a:solidFill>
              </a:rPr>
              <a:t>START IN PLAN MODE</a:t>
            </a:r>
            <a:endParaRPr lang="en-US" sz="1200" dirty="0"/>
          </a:p>
        </p:txBody>
      </p:sp>
      <p:sp>
        <p:nvSpPr>
          <p:cNvPr id="7" name="Value 2"/>
          <p:cNvSpPr txBox="1"/>
          <p:nvPr/>
        </p:nvSpPr>
        <p:spPr>
          <a:xfrm>
            <a:off x="548640" y="3538728"/>
            <a:ext cx="5120640" cy="960120"/>
          </a:xfrm>
          <a:prstGeom prst="rect">
            <a:avLst/>
          </a:prstGeom>
          <a:noFill/>
          <a:ln/>
        </p:spPr>
        <p:txBody>
          <a:bodyPr wrap="square" lIns="0" tIns="0" rIns="0" bIns="0" rtlCol="0" anchor="t"/>
          <a:lstStyle/>
          <a:p>
            <a:pPr indent="0" marL="0">
              <a:buNone/>
            </a:pPr>
            <a:r>
              <a:rPr lang="en-US" sz="1900" dirty="0">
                <a:solidFill>
                  <a:schemeClr val="tx1"/>
                </a:solidFill>
              </a:rPr>
              <a:t>Ask what could break and which step is riskiest. Commit the result as plan.md.</a:t>
            </a:r>
            <a:endParaRPr lang="en-US" sz="1900" dirty="0"/>
          </a:p>
        </p:txBody>
      </p:sp>
      <p:sp>
        <p:nvSpPr>
          <p:cNvPr id="8" name="Label 3"/>
          <p:cNvSpPr txBox="1"/>
          <p:nvPr/>
        </p:nvSpPr>
        <p:spPr>
          <a:xfrm>
            <a:off x="548640" y="4709160"/>
            <a:ext cx="5120640" cy="274320"/>
          </a:xfrm>
          <a:prstGeom prst="rect">
            <a:avLst/>
          </a:prstGeom>
          <a:noFill/>
          <a:ln/>
        </p:spPr>
        <p:txBody>
          <a:bodyPr wrap="square" lIns="0" tIns="0" rIns="0" bIns="0" rtlCol="0" anchor="ctr"/>
          <a:lstStyle/>
          <a:p>
            <a:pPr indent="0" marL="0">
              <a:buNone/>
            </a:pPr>
            <a:r>
              <a:rPr lang="en-US" sz="1200" b="1" spc="200" kern="0" dirty="0">
                <a:solidFill>
                  <a:schemeClr val="tx2"/>
                </a:solidFill>
              </a:rPr>
              <a:t>KEEP IT IN SYNC</a:t>
            </a:r>
            <a:endParaRPr lang="en-US" sz="1200" dirty="0"/>
          </a:p>
        </p:txBody>
      </p:sp>
      <p:sp>
        <p:nvSpPr>
          <p:cNvPr id="9" name="Value 3"/>
          <p:cNvSpPr txBox="1"/>
          <p:nvPr/>
        </p:nvSpPr>
        <p:spPr>
          <a:xfrm>
            <a:off x="548640" y="5001768"/>
            <a:ext cx="5120640" cy="960120"/>
          </a:xfrm>
          <a:prstGeom prst="rect">
            <a:avLst/>
          </a:prstGeom>
          <a:noFill/>
          <a:ln/>
        </p:spPr>
        <p:txBody>
          <a:bodyPr wrap="square" lIns="0" tIns="0" rIns="0" bIns="0" rtlCol="0" anchor="t"/>
          <a:lstStyle/>
          <a:p>
            <a:pPr indent="0" marL="0">
              <a:buNone/>
            </a:pPr>
            <a:r>
              <a:rPr lang="en-US" sz="1900" dirty="0">
                <a:solidFill>
                  <a:schemeClr val="tx1"/>
                </a:solidFill>
              </a:rPr>
              <a:t>If the build drifts from the plan, update plan.md in the same commit.</a:t>
            </a:r>
            <a:endParaRPr lang="en-US" sz="1900" dirty="0"/>
          </a:p>
        </p:txBody>
      </p:sp>
      <p:sp>
        <p:nvSpPr>
          <p:cNvPr id="10" name="Text 8"/>
          <p:cNvSpPr txBox="1"/>
          <p:nvPr/>
        </p:nvSpPr>
        <p:spPr>
          <a:xfrm>
            <a:off x="6126480" y="1783080"/>
            <a:ext cx="5516575" cy="274320"/>
          </a:xfrm>
          <a:prstGeom prst="rect">
            <a:avLst/>
          </a:prstGeom>
          <a:noFill/>
          <a:ln/>
        </p:spPr>
        <p:txBody>
          <a:bodyPr wrap="square" lIns="0" tIns="0" rIns="0" bIns="0" rtlCol="0" anchor="ctr"/>
          <a:lstStyle/>
          <a:p>
            <a:pPr indent="0" marL="0">
              <a:buNone/>
            </a:pPr>
            <a:r>
              <a:rPr lang="en-US" sz="1200" b="1" spc="200" kern="0" dirty="0">
                <a:solidFill>
                  <a:schemeClr val="tx2"/>
                </a:solidFill>
              </a:rPr>
              <a:t>AGENTS.MD: READ AT EVERY SESSION START</a:t>
            </a:r>
            <a:endParaRPr lang="en-US" sz="1200" dirty="0"/>
          </a:p>
        </p:txBody>
      </p:sp>
      <p:sp>
        <p:nvSpPr>
          <p:cNvPr id="11" name="Code card"/>
          <p:cNvSpPr/>
          <p:nvPr/>
        </p:nvSpPr>
        <p:spPr>
          <a:xfrm>
            <a:off x="6126480" y="2194560"/>
            <a:ext cx="5516575" cy="4023360"/>
          </a:xfrm>
          <a:prstGeom prst="roundRect">
            <a:avLst>
              <a:gd name="adj" fmla="val 2727"/>
            </a:avLst>
          </a:prstGeom>
          <a:solidFill>
            <a:schemeClr val="tx1"/>
          </a:solidFill>
          <a:ln w="12700">
            <a:solidFill>
              <a:schemeClr val="tx1"/>
            </a:solidFill>
            <a:prstDash val="solid"/>
          </a:ln>
        </p:spPr>
      </p:sp>
      <p:sp>
        <p:nvSpPr>
          <p:cNvPr id="12" name="Code"/>
          <p:cNvSpPr txBox="1"/>
          <p:nvPr/>
        </p:nvSpPr>
        <p:spPr>
          <a:xfrm>
            <a:off x="6446520" y="2468880"/>
            <a:ext cx="4876495" cy="3474720"/>
          </a:xfrm>
          <a:prstGeom prst="rect">
            <a:avLst/>
          </a:prstGeom>
          <a:noFill/>
          <a:ln/>
        </p:spPr>
        <p:txBody>
          <a:bodyPr wrap="square" lIns="0" tIns="0" rIns="0" bIns="0" rtlCol="0" anchor="t"/>
          <a:lstStyle/>
          <a:p>
            <a:pPr indent="0" marL="0">
              <a:lnSpc>
                <a:spcPct val="115000"/>
              </a:lnSpc>
              <a:buNone/>
            </a:pPr>
            <a:r>
              <a:rPr lang="en-US" sz="1400" dirty="0">
                <a:solidFill>
                  <a:schemeClr val="accent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Commands</a:t>
            </a:r>
            <a:endParaRPr lang="en-US" sz="1400" dirty="0"/>
          </a:p>
          <a:p>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Build: make build · Test: make test</a:t>
            </a:r>
            <a:endParaRPr lang="en-US" sz="1400" dirty="0"/>
          </a:p>
          <a:p>
            <a:pPr indent="0" marL="0">
              <a:lnSpc>
                <a:spcPct val="115000"/>
              </a:lnSpc>
              <a:buNone/>
            </a:pPr>
            <a:r>
              <a:rPr lang="en-US" sz="1400" dirty="0">
                <a:solidFill>
                  <a:schemeClr val="accent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Conventions</a:t>
            </a:r>
            <a:endParaRPr lang="en-US" sz="1400" dirty="0"/>
          </a:p>
          <a:p>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Money is always BigDecimal, never double.</a:t>
            </a:r>
            <a:endParaRPr lang="en-US" sz="1400" dirty="0"/>
          </a:p>
          <a:p>
            <a:pPr indent="0" marL="0">
              <a:lnSpc>
                <a:spcPct val="115000"/>
              </a:lnSpc>
              <a:buNone/>
            </a:pPr>
            <a:r>
              <a:rPr lang="en-US" sz="1400" dirty="0">
                <a:solidFill>
                  <a:schemeClr val="accent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Architecture</a:t>
            </a:r>
            <a:endParaRPr lang="en-US" sz="1400" dirty="0"/>
          </a:p>
          <a:p>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api/ controllers · core/ domain logic</a:t>
            </a:r>
            <a:endParaRPr lang="en-US" sz="1400" dirty="0"/>
          </a:p>
          <a:p>
            <a:pPr indent="0" marL="0">
              <a:lnSpc>
                <a:spcPct val="115000"/>
              </a:lnSpc>
              <a:buNone/>
            </a:pPr>
            <a:r>
              <a:rPr lang="en-US" sz="1400" dirty="0">
                <a:solidFill>
                  <a:schemeClr val="accent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Things the agent gets wrong</a:t>
            </a:r>
            <a:endParaRPr lang="en-US" sz="1400" dirty="0"/>
          </a:p>
          <a:p>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Do not bump dependency versions.</a:t>
            </a:r>
            <a:endParaRPr lang="en-US" sz="1400" dirty="0"/>
          </a:p>
          <a:p>
            <a:pPr indent="0" marL="0">
              <a:lnSpc>
                <a:spcPct val="115000"/>
              </a:lnSpc>
              <a:buNone/>
            </a:pPr>
            <a:r>
              <a:rPr lang="en-US" sz="1400" dirty="0">
                <a:solidFill>
                  <a:schemeClr val="accent6"/>
                </a:solidFill>
                <a:latin typeface="Courier New" pitchFamily="34" charset="0"/>
                <a:ea typeface="Courier New" pitchFamily="34" charset="-122"/>
                <a:cs typeface="Courier New" pitchFamily="34" charset="-120"/>
              </a:rPr>
              <a:t>The legacy v1/ package is frozen.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4415"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STAGE 3 · BUILD TOOLKIT</a:t>
            </a:r>
            <a:endParaRPr lang="en-US" sz="1400" dirty="0"/>
          </a:p>
        </p:txBody>
      </p:sp>
      <p:sp>
        <p:nvSpPr>
          <p:cNvPr id="3" name="Text 0"/>
          <p:cNvSpPr/>
          <p:nvPr>
            <p:ph idx="101" type="title" hasCustomPrompt="1"/>
          </p:nvPr>
        </p:nvSpPr>
        <p:spPr>
          <a:xfrm>
            <a:off x="548640" y="82296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Four tools carry the team’s way of working</a:t>
            </a:r>
            <a:endParaRPr lang="en-US" sz="3400" dirty="0"/>
          </a:p>
        </p:txBody>
      </p:sp>
      <p:sp>
        <p:nvSpPr>
          <p:cNvPr id="4" name="Skills card"/>
          <p:cNvSpPr/>
          <p:nvPr/>
        </p:nvSpPr>
        <p:spPr>
          <a:xfrm>
            <a:off x="548640" y="1920240"/>
            <a:ext cx="2567864" cy="3108960"/>
          </a:xfrm>
          <a:prstGeom prst="roundRect">
            <a:avLst>
              <a:gd name="adj" fmla="val 4273"/>
            </a:avLst>
          </a:prstGeom>
          <a:solidFill>
            <a:schemeClr val="bg1"/>
          </a:solidFill>
          <a:ln w="12700">
            <a:solidFill>
              <a:schemeClr val="bg1"/>
            </a:solidFill>
            <a:prstDash val="solid"/>
          </a:ln>
        </p:spPr>
      </p:sp>
      <p:sp>
        <p:nvSpPr>
          <p:cNvPr id="5" name="Skills icon circle"/>
          <p:cNvSpPr/>
          <p:nvPr/>
        </p:nvSpPr>
        <p:spPr>
          <a:xfrm>
            <a:off x="868680" y="2240280"/>
            <a:ext cx="731520" cy="731520"/>
          </a:xfrm>
          <a:prstGeom prst="ellipse">
            <a:avLst/>
          </a:prstGeom>
          <a:solidFill>
            <a:schemeClr val="accent5"/>
          </a:solidFill>
          <a:ln w="12700">
            <a:solidFill>
              <a:schemeClr val="accent5"/>
            </a:solidFill>
            <a:prstDash val="solid"/>
          </a:ln>
        </p:spPr>
      </p:sp>
      <p:pic>
        <p:nvPicPr>
          <p:cNvPr id="6" name="Image 0" descr="Skills icon">    </p:cNvPr>
          <p:cNvPicPr>
            <a:picLocks noChangeAspect="1"/>
          </p:cNvPicPr>
          <p:nvPr/>
        </p:nvPicPr>
        <p:blipFill>
          <a:blip r:embed="rId1"/>
          <a:stretch>
            <a:fillRect/>
          </a:stretch>
        </p:blipFill>
        <p:spPr>
          <a:xfrm>
            <a:off x="1051560" y="2423160"/>
            <a:ext cx="365760" cy="365760"/>
          </a:xfrm>
          <a:prstGeom prst="rect">
            <a:avLst/>
          </a:prstGeom>
        </p:spPr>
      </p:pic>
      <p:sp>
        <p:nvSpPr>
          <p:cNvPr id="7" name="Text 4"/>
          <p:cNvSpPr txBox="1"/>
          <p:nvPr/>
        </p:nvSpPr>
        <p:spPr>
          <a:xfrm>
            <a:off x="868680" y="3154680"/>
            <a:ext cx="1927784" cy="457200"/>
          </a:xfrm>
          <a:prstGeom prst="rect">
            <a:avLst/>
          </a:prstGeom>
          <a:noFill/>
          <a:ln/>
        </p:spPr>
        <p:txBody>
          <a:bodyPr wrap="square" lIns="0" tIns="0" rIns="0" bIns="0" rtlCol="0" anchor="ctr"/>
          <a:lstStyle/>
          <a:p>
            <a:pPr indent="0" marL="0">
              <a:buNone/>
            </a:pPr>
            <a:r>
              <a:rPr lang="en-US" sz="2100" b="1" dirty="0">
                <a:solidFill>
                  <a:schemeClr val="tx1"/>
                </a:solidFill>
              </a:rPr>
              <a:t>Skills</a:t>
            </a:r>
            <a:endParaRPr lang="en-US" sz="2100" dirty="0"/>
          </a:p>
        </p:txBody>
      </p:sp>
      <p:sp>
        <p:nvSpPr>
          <p:cNvPr id="8" name="Text 5"/>
          <p:cNvSpPr txBox="1"/>
          <p:nvPr/>
        </p:nvSpPr>
        <p:spPr>
          <a:xfrm>
            <a:off x="868680" y="3657600"/>
            <a:ext cx="1927784" cy="1188720"/>
          </a:xfrm>
          <a:prstGeom prst="rect">
            <a:avLst/>
          </a:prstGeom>
          <a:noFill/>
          <a:ln/>
        </p:spPr>
        <p:txBody>
          <a:bodyPr wrap="square" lIns="0" tIns="0" rIns="0" bIns="0" rtlCol="0" anchor="t"/>
          <a:lstStyle/>
          <a:p>
            <a:pPr indent="0" marL="0">
              <a:buNone/>
            </a:pPr>
            <a:r>
              <a:rPr lang="en-US" sz="1600" dirty="0">
                <a:solidFill>
                  <a:schemeClr val="tx2"/>
                </a:solidFill>
              </a:rPr>
              <a:t>How we work, packaged. Update once, and every team follows.</a:t>
            </a:r>
            <a:endParaRPr lang="en-US" sz="1600" dirty="0"/>
          </a:p>
        </p:txBody>
      </p:sp>
      <p:sp>
        <p:nvSpPr>
          <p:cNvPr id="9" name="Hooks card"/>
          <p:cNvSpPr/>
          <p:nvPr/>
        </p:nvSpPr>
        <p:spPr>
          <a:xfrm>
            <a:off x="3390824" y="1920240"/>
            <a:ext cx="2567864" cy="3108960"/>
          </a:xfrm>
          <a:prstGeom prst="roundRect">
            <a:avLst>
              <a:gd name="adj" fmla="val 4273"/>
            </a:avLst>
          </a:prstGeom>
          <a:solidFill>
            <a:schemeClr val="bg1"/>
          </a:solidFill>
          <a:ln w="12700">
            <a:solidFill>
              <a:schemeClr val="bg1"/>
            </a:solidFill>
            <a:prstDash val="solid"/>
          </a:ln>
        </p:spPr>
      </p:sp>
      <p:sp>
        <p:nvSpPr>
          <p:cNvPr id="10" name="Hooks icon circle"/>
          <p:cNvSpPr/>
          <p:nvPr/>
        </p:nvSpPr>
        <p:spPr>
          <a:xfrm>
            <a:off x="3710864" y="2240280"/>
            <a:ext cx="731520" cy="731520"/>
          </a:xfrm>
          <a:prstGeom prst="ellipse">
            <a:avLst/>
          </a:prstGeom>
          <a:solidFill>
            <a:schemeClr val="accent5"/>
          </a:solidFill>
          <a:ln w="12700">
            <a:solidFill>
              <a:schemeClr val="accent5"/>
            </a:solidFill>
            <a:prstDash val="solid"/>
          </a:ln>
        </p:spPr>
      </p:sp>
      <p:pic>
        <p:nvPicPr>
          <p:cNvPr id="11" name="Image 1" descr="Hooks icon">    </p:cNvPr>
          <p:cNvPicPr>
            <a:picLocks noChangeAspect="1"/>
          </p:cNvPicPr>
          <p:nvPr/>
        </p:nvPicPr>
        <p:blipFill>
          <a:blip r:embed="rId2"/>
          <a:stretch>
            <a:fillRect/>
          </a:stretch>
        </p:blipFill>
        <p:spPr>
          <a:xfrm>
            <a:off x="3893744" y="2423160"/>
            <a:ext cx="365760" cy="365760"/>
          </a:xfrm>
          <a:prstGeom prst="rect">
            <a:avLst/>
          </a:prstGeom>
        </p:spPr>
      </p:pic>
      <p:sp>
        <p:nvSpPr>
          <p:cNvPr id="12" name="Text 8"/>
          <p:cNvSpPr txBox="1"/>
          <p:nvPr/>
        </p:nvSpPr>
        <p:spPr>
          <a:xfrm>
            <a:off x="3710864" y="3154680"/>
            <a:ext cx="1927784" cy="457200"/>
          </a:xfrm>
          <a:prstGeom prst="rect">
            <a:avLst/>
          </a:prstGeom>
          <a:noFill/>
          <a:ln/>
        </p:spPr>
        <p:txBody>
          <a:bodyPr wrap="square" lIns="0" tIns="0" rIns="0" bIns="0" rtlCol="0" anchor="ctr"/>
          <a:lstStyle/>
          <a:p>
            <a:pPr indent="0" marL="0">
              <a:buNone/>
            </a:pPr>
            <a:r>
              <a:rPr lang="en-US" sz="2100" b="1" dirty="0">
                <a:solidFill>
                  <a:schemeClr val="tx1"/>
                </a:solidFill>
              </a:rPr>
              <a:t>Hooks</a:t>
            </a:r>
            <a:endParaRPr lang="en-US" sz="2100" dirty="0"/>
          </a:p>
        </p:txBody>
      </p:sp>
      <p:sp>
        <p:nvSpPr>
          <p:cNvPr id="13" name="Text 9"/>
          <p:cNvSpPr txBox="1"/>
          <p:nvPr/>
        </p:nvSpPr>
        <p:spPr>
          <a:xfrm>
            <a:off x="3710864" y="3657600"/>
            <a:ext cx="1927784" cy="1188720"/>
          </a:xfrm>
          <a:prstGeom prst="rect">
            <a:avLst/>
          </a:prstGeom>
          <a:noFill/>
          <a:ln/>
        </p:spPr>
        <p:txBody>
          <a:bodyPr wrap="square" lIns="0" tIns="0" rIns="0" bIns="0" rtlCol="0" anchor="t"/>
          <a:lstStyle/>
          <a:p>
            <a:pPr indent="0" marL="0">
              <a:buNone/>
            </a:pPr>
            <a:r>
              <a:rPr lang="en-US" sz="1600" dirty="0">
                <a:solidFill>
                  <a:schemeClr val="tx2"/>
                </a:solidFill>
              </a:rPr>
              <a:t>Rules that always run. They allow, block or ask a person.</a:t>
            </a:r>
            <a:endParaRPr lang="en-US" sz="1600" dirty="0"/>
          </a:p>
        </p:txBody>
      </p:sp>
      <p:sp>
        <p:nvSpPr>
          <p:cNvPr id="14" name="Parallel sessions card"/>
          <p:cNvSpPr/>
          <p:nvPr/>
        </p:nvSpPr>
        <p:spPr>
          <a:xfrm>
            <a:off x="6233008" y="1920240"/>
            <a:ext cx="2567864" cy="3108960"/>
          </a:xfrm>
          <a:prstGeom prst="roundRect">
            <a:avLst>
              <a:gd name="adj" fmla="val 4273"/>
            </a:avLst>
          </a:prstGeom>
          <a:solidFill>
            <a:schemeClr val="bg1"/>
          </a:solidFill>
          <a:ln w="12700">
            <a:solidFill>
              <a:schemeClr val="bg1"/>
            </a:solidFill>
            <a:prstDash val="solid"/>
          </a:ln>
        </p:spPr>
      </p:sp>
      <p:sp>
        <p:nvSpPr>
          <p:cNvPr id="15" name="Parallel sessions icon circle"/>
          <p:cNvSpPr/>
          <p:nvPr/>
        </p:nvSpPr>
        <p:spPr>
          <a:xfrm>
            <a:off x="6553048" y="2240280"/>
            <a:ext cx="731520" cy="731520"/>
          </a:xfrm>
          <a:prstGeom prst="ellipse">
            <a:avLst/>
          </a:prstGeom>
          <a:solidFill>
            <a:schemeClr val="accent5"/>
          </a:solidFill>
          <a:ln w="12700">
            <a:solidFill>
              <a:schemeClr val="accent5"/>
            </a:solidFill>
            <a:prstDash val="solid"/>
          </a:ln>
        </p:spPr>
      </p:sp>
      <p:pic>
        <p:nvPicPr>
          <p:cNvPr id="16" name="Image 2" descr="Parallel sessions icon">    </p:cNvPr>
          <p:cNvPicPr>
            <a:picLocks noChangeAspect="1"/>
          </p:cNvPicPr>
          <p:nvPr/>
        </p:nvPicPr>
        <p:blipFill>
          <a:blip r:embed="rId3"/>
          <a:stretch>
            <a:fillRect/>
          </a:stretch>
        </p:blipFill>
        <p:spPr>
          <a:xfrm>
            <a:off x="6735928" y="2423160"/>
            <a:ext cx="365760" cy="365760"/>
          </a:xfrm>
          <a:prstGeom prst="rect">
            <a:avLst/>
          </a:prstGeom>
        </p:spPr>
      </p:pic>
      <p:sp>
        <p:nvSpPr>
          <p:cNvPr id="17" name="Text 12"/>
          <p:cNvSpPr txBox="1"/>
          <p:nvPr/>
        </p:nvSpPr>
        <p:spPr>
          <a:xfrm>
            <a:off x="6553048" y="3154680"/>
            <a:ext cx="1927784" cy="457200"/>
          </a:xfrm>
          <a:prstGeom prst="rect">
            <a:avLst/>
          </a:prstGeom>
          <a:noFill/>
          <a:ln/>
        </p:spPr>
        <p:txBody>
          <a:bodyPr wrap="square" lIns="0" tIns="0" rIns="0" bIns="0" rtlCol="0" anchor="ctr"/>
          <a:lstStyle/>
          <a:p>
            <a:pPr indent="0" marL="0">
              <a:buNone/>
            </a:pPr>
            <a:r>
              <a:rPr lang="en-US" sz="2100" b="1" dirty="0">
                <a:solidFill>
                  <a:schemeClr val="tx1"/>
                </a:solidFill>
              </a:rPr>
              <a:t>Parallel sessions</a:t>
            </a:r>
            <a:endParaRPr lang="en-US" sz="2100" dirty="0"/>
          </a:p>
        </p:txBody>
      </p:sp>
      <p:sp>
        <p:nvSpPr>
          <p:cNvPr id="18" name="Text 13"/>
          <p:cNvSpPr txBox="1"/>
          <p:nvPr/>
        </p:nvSpPr>
        <p:spPr>
          <a:xfrm>
            <a:off x="6553048" y="3657600"/>
            <a:ext cx="1927784" cy="1188720"/>
          </a:xfrm>
          <a:prstGeom prst="rect">
            <a:avLst/>
          </a:prstGeom>
          <a:noFill/>
          <a:ln/>
        </p:spPr>
        <p:txBody>
          <a:bodyPr wrap="square" lIns="0" tIns="0" rIns="0" bIns="0" rtlCol="0" anchor="t"/>
          <a:lstStyle/>
          <a:p>
            <a:pPr indent="0" marL="0">
              <a:buNone/>
            </a:pPr>
            <a:r>
              <a:rPr lang="en-US" sz="1600" dirty="0">
                <a:solidFill>
                  <a:schemeClr val="tx2"/>
                </a:solidFill>
              </a:rPr>
              <a:t>Several full agents, each on its own task in its own worktree.</a:t>
            </a:r>
            <a:endParaRPr lang="en-US" sz="1600" dirty="0"/>
          </a:p>
        </p:txBody>
      </p:sp>
      <p:sp>
        <p:nvSpPr>
          <p:cNvPr id="19" name="Subagents card"/>
          <p:cNvSpPr/>
          <p:nvPr/>
        </p:nvSpPr>
        <p:spPr>
          <a:xfrm>
            <a:off x="9075191" y="1920240"/>
            <a:ext cx="2567864" cy="3108960"/>
          </a:xfrm>
          <a:prstGeom prst="roundRect">
            <a:avLst>
              <a:gd name="adj" fmla="val 4273"/>
            </a:avLst>
          </a:prstGeom>
          <a:solidFill>
            <a:schemeClr val="bg1"/>
          </a:solidFill>
          <a:ln w="12700">
            <a:solidFill>
              <a:schemeClr val="bg1"/>
            </a:solidFill>
            <a:prstDash val="solid"/>
          </a:ln>
        </p:spPr>
      </p:sp>
      <p:sp>
        <p:nvSpPr>
          <p:cNvPr id="20" name="Subagents icon circle"/>
          <p:cNvSpPr/>
          <p:nvPr/>
        </p:nvSpPr>
        <p:spPr>
          <a:xfrm>
            <a:off x="9395231" y="2240280"/>
            <a:ext cx="731520" cy="731520"/>
          </a:xfrm>
          <a:prstGeom prst="ellipse">
            <a:avLst/>
          </a:prstGeom>
          <a:solidFill>
            <a:schemeClr val="accent5"/>
          </a:solidFill>
          <a:ln w="12700">
            <a:solidFill>
              <a:schemeClr val="accent5"/>
            </a:solidFill>
            <a:prstDash val="solid"/>
          </a:ln>
        </p:spPr>
      </p:sp>
      <p:pic>
        <p:nvPicPr>
          <p:cNvPr id="21" name="Image 3" descr="Subagents icon">    </p:cNvPr>
          <p:cNvPicPr>
            <a:picLocks noChangeAspect="1"/>
          </p:cNvPicPr>
          <p:nvPr/>
        </p:nvPicPr>
        <p:blipFill>
          <a:blip r:embed="rId4"/>
          <a:stretch>
            <a:fillRect/>
          </a:stretch>
        </p:blipFill>
        <p:spPr>
          <a:xfrm>
            <a:off x="9578111" y="2423160"/>
            <a:ext cx="365760" cy="365760"/>
          </a:xfrm>
          <a:prstGeom prst="rect">
            <a:avLst/>
          </a:prstGeom>
        </p:spPr>
      </p:pic>
      <p:sp>
        <p:nvSpPr>
          <p:cNvPr id="22" name="Text 16"/>
          <p:cNvSpPr txBox="1"/>
          <p:nvPr/>
        </p:nvSpPr>
        <p:spPr>
          <a:xfrm>
            <a:off x="9395231" y="3154680"/>
            <a:ext cx="1927784" cy="457200"/>
          </a:xfrm>
          <a:prstGeom prst="rect">
            <a:avLst/>
          </a:prstGeom>
          <a:noFill/>
          <a:ln/>
        </p:spPr>
        <p:txBody>
          <a:bodyPr wrap="square" lIns="0" tIns="0" rIns="0" bIns="0" rtlCol="0" anchor="ctr"/>
          <a:lstStyle/>
          <a:p>
            <a:pPr indent="0" marL="0">
              <a:buNone/>
            </a:pPr>
            <a:r>
              <a:rPr lang="en-US" sz="2100" b="1" dirty="0">
                <a:solidFill>
                  <a:schemeClr val="tx1"/>
                </a:solidFill>
              </a:rPr>
              <a:t>Subagents</a:t>
            </a:r>
            <a:endParaRPr lang="en-US" sz="2100" dirty="0"/>
          </a:p>
        </p:txBody>
      </p:sp>
      <p:sp>
        <p:nvSpPr>
          <p:cNvPr id="23" name="Text 17"/>
          <p:cNvSpPr txBox="1"/>
          <p:nvPr/>
        </p:nvSpPr>
        <p:spPr>
          <a:xfrm>
            <a:off x="9395231" y="3657600"/>
            <a:ext cx="1927784" cy="1188720"/>
          </a:xfrm>
          <a:prstGeom prst="rect">
            <a:avLst/>
          </a:prstGeom>
          <a:noFill/>
          <a:ln/>
        </p:spPr>
        <p:txBody>
          <a:bodyPr wrap="square" lIns="0" tIns="0" rIns="0" bIns="0" rtlCol="0" anchor="t"/>
          <a:lstStyle/>
          <a:p>
            <a:pPr indent="0" marL="0">
              <a:buNone/>
            </a:pPr>
            <a:r>
              <a:rPr lang="en-US" sz="1600" dirty="0">
                <a:solidFill>
                  <a:schemeClr val="tx2"/>
                </a:solidFill>
              </a:rPr>
              <a:t>Helpers for repeated jobs, each in its own context.</a:t>
            </a:r>
            <a:endParaRPr lang="en-US" sz="1600" dirty="0"/>
          </a:p>
        </p:txBody>
      </p:sp>
      <p:sp>
        <p:nvSpPr>
          <p:cNvPr id="24" name="Text 18"/>
          <p:cNvSpPr txBox="1"/>
          <p:nvPr/>
        </p:nvSpPr>
        <p:spPr>
          <a:xfrm>
            <a:off x="548640" y="5349240"/>
            <a:ext cx="11094415" cy="640080"/>
          </a:xfrm>
          <a:prstGeom prst="rect">
            <a:avLst/>
          </a:prstGeom>
          <a:noFill/>
          <a:ln/>
        </p:spPr>
        <p:txBody>
          <a:bodyPr wrap="square" lIns="0" tIns="0" rIns="0" bIns="0" rtlCol="0" anchor="ctr"/>
          <a:lstStyle/>
          <a:p>
            <a:pPr indent="0" marL="0">
              <a:buNone/>
            </a:pPr>
            <a:r>
              <a:rPr lang="en-US" sz="1800" b="1" dirty="0">
                <a:solidFill>
                  <a:schemeClr val="tx1"/>
                </a:solidFill>
              </a:rPr>
              <a:t>Watch out: </a:t>
            </a:r>
            <a:pPr indent="0" marL="0">
              <a:buNone/>
            </a:pPr>
            <a:r>
              <a:rPr lang="en-US" sz="1800" dirty="0">
                <a:solidFill>
                  <a:schemeClr val="tx1"/>
                </a:solidFill>
              </a:rPr>
              <a:t>each subagent starts fresh, so more helpers means more tokens. Use them for big tasks that split cleanly.</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4415"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STAGE 4 · TEST</a:t>
            </a:r>
            <a:endParaRPr lang="en-US" sz="1400" dirty="0"/>
          </a:p>
        </p:txBody>
      </p:sp>
      <p:sp>
        <p:nvSpPr>
          <p:cNvPr id="3" name="Text 0"/>
          <p:cNvSpPr/>
          <p:nvPr>
            <p:ph idx="101" type="title" hasCustomPrompt="1"/>
          </p:nvPr>
        </p:nvSpPr>
        <p:spPr>
          <a:xfrm>
            <a:off x="548640" y="82296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Checks run all the time, not just at the doors</a:t>
            </a:r>
            <a:endParaRPr lang="en-US" sz="3400" dirty="0"/>
          </a:p>
        </p:txBody>
      </p:sp>
      <p:sp>
        <p:nvSpPr>
          <p:cNvPr id="4" name="Feedback loop card"/>
          <p:cNvSpPr/>
          <p:nvPr/>
        </p:nvSpPr>
        <p:spPr>
          <a:xfrm>
            <a:off x="548640" y="1828800"/>
            <a:ext cx="5410048" cy="4389120"/>
          </a:xfrm>
          <a:prstGeom prst="roundRect">
            <a:avLst>
              <a:gd name="adj" fmla="val 2500"/>
            </a:avLst>
          </a:prstGeom>
          <a:solidFill>
            <a:schemeClr val="bg2"/>
          </a:solidFill>
          <a:ln w="12700">
            <a:solidFill>
              <a:schemeClr val="bg2"/>
            </a:solidFill>
            <a:prstDash val="solid"/>
          </a:ln>
        </p:spPr>
      </p:sp>
      <p:sp>
        <p:nvSpPr>
          <p:cNvPr id="5" name="Text 3"/>
          <p:cNvSpPr txBox="1"/>
          <p:nvPr/>
        </p:nvSpPr>
        <p:spPr>
          <a:xfrm>
            <a:off x="960120" y="2148840"/>
            <a:ext cx="4587088"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TESTS THE CODE</a:t>
            </a:r>
            <a:endParaRPr lang="en-US" sz="1200" dirty="0"/>
          </a:p>
        </p:txBody>
      </p:sp>
      <p:sp>
        <p:nvSpPr>
          <p:cNvPr id="6" name="Text 4"/>
          <p:cNvSpPr txBox="1"/>
          <p:nvPr/>
        </p:nvSpPr>
        <p:spPr>
          <a:xfrm>
            <a:off x="960120" y="2514600"/>
            <a:ext cx="4587088" cy="548640"/>
          </a:xfrm>
          <a:prstGeom prst="rect">
            <a:avLst/>
          </a:prstGeom>
          <a:noFill/>
          <a:ln/>
        </p:spPr>
        <p:txBody>
          <a:bodyPr wrap="square" lIns="0" tIns="0" rIns="0" bIns="0" rtlCol="0" anchor="ctr"/>
          <a:lstStyle/>
          <a:p>
            <a:pPr indent="0" marL="0">
              <a:buNone/>
            </a:pPr>
            <a:r>
              <a:rPr lang="en-US" sz="2600" b="1" dirty="0">
                <a:solidFill>
                  <a:schemeClr val="tx1"/>
                </a:solidFill>
              </a:rPr>
              <a:t>Feedback loop</a:t>
            </a:r>
            <a:endParaRPr lang="en-US" sz="2600" dirty="0"/>
          </a:p>
        </p:txBody>
      </p:sp>
      <p:sp>
        <p:nvSpPr>
          <p:cNvPr id="7" name="Text 5"/>
          <p:cNvSpPr txBox="1"/>
          <p:nvPr/>
        </p:nvSpPr>
        <p:spPr>
          <a:xfrm>
            <a:off x="960120" y="3246120"/>
            <a:ext cx="4587088" cy="27432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Write, check, fix, repeat until it passes</a:t>
            </a:r>
            <a:endParaRPr lang="en-US" sz="1800" dirty="0"/>
          </a:p>
          <a:p>
            <a:pPr marL="342900" indent="-342900">
              <a:spcAft>
                <a:spcPts val="1000"/>
              </a:spcAft>
              <a:buSzPct val="100000"/>
              <a:buChar char="•"/>
            </a:pPr>
            <a:r>
              <a:rPr lang="en-US" sz="1800" dirty="0">
                <a:solidFill>
                  <a:schemeClr val="tx1"/>
                </a:solidFill>
              </a:rPr>
              <a:t>Checks listed in AGENTS.md as one command each</a:t>
            </a:r>
            <a:endParaRPr lang="en-US" sz="1800" dirty="0"/>
          </a:p>
          <a:p>
            <a:pPr marL="342900" indent="-342900">
              <a:spcAft>
                <a:spcPts val="1000"/>
              </a:spcAft>
              <a:buSzPct val="100000"/>
              <a:buChar char="•"/>
            </a:pPr>
            <a:r>
              <a:rPr lang="en-US" sz="1800" dirty="0">
                <a:solidFill>
                  <a:schemeClr val="tx1"/>
                </a:solidFill>
              </a:rPr>
              <a:t>Bug fixes start with a failing test (TDD)</a:t>
            </a:r>
            <a:endParaRPr lang="en-US" sz="1800" dirty="0"/>
          </a:p>
          <a:p>
            <a:pPr marL="342900" indent="-342900">
              <a:spcAft>
                <a:spcPts val="1000"/>
              </a:spcAft>
              <a:buSzPct val="100000"/>
              <a:buChar char="•"/>
            </a:pPr>
            <a:r>
              <a:rPr lang="en-US" sz="1800" dirty="0">
                <a:solidFill>
                  <a:schemeClr val="tx1"/>
                </a:solidFill>
              </a:rPr>
              <a:t>A hook stops the agent editing the tests</a:t>
            </a:r>
            <a:endParaRPr lang="en-US" sz="1800" dirty="0"/>
          </a:p>
        </p:txBody>
      </p:sp>
      <p:sp>
        <p:nvSpPr>
          <p:cNvPr id="8" name="Continuous evals card"/>
          <p:cNvSpPr/>
          <p:nvPr/>
        </p:nvSpPr>
        <p:spPr>
          <a:xfrm>
            <a:off x="6233008" y="1828800"/>
            <a:ext cx="5410048" cy="4389120"/>
          </a:xfrm>
          <a:prstGeom prst="roundRect">
            <a:avLst>
              <a:gd name="adj" fmla="val 2500"/>
            </a:avLst>
          </a:prstGeom>
          <a:solidFill>
            <a:schemeClr val="tx1"/>
          </a:solidFill>
          <a:ln w="12700">
            <a:solidFill>
              <a:schemeClr val="tx1"/>
            </a:solidFill>
            <a:prstDash val="solid"/>
          </a:ln>
        </p:spPr>
      </p:sp>
      <p:sp>
        <p:nvSpPr>
          <p:cNvPr id="9" name="Text 7"/>
          <p:cNvSpPr txBox="1"/>
          <p:nvPr/>
        </p:nvSpPr>
        <p:spPr>
          <a:xfrm>
            <a:off x="6644488" y="2148840"/>
            <a:ext cx="4587088"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TESTS THE AGENT’S SETUP</a:t>
            </a:r>
            <a:endParaRPr lang="en-US" sz="1200" dirty="0"/>
          </a:p>
        </p:txBody>
      </p:sp>
      <p:sp>
        <p:nvSpPr>
          <p:cNvPr id="10" name="Text 8"/>
          <p:cNvSpPr txBox="1"/>
          <p:nvPr/>
        </p:nvSpPr>
        <p:spPr>
          <a:xfrm>
            <a:off x="6644488" y="2514600"/>
            <a:ext cx="4587088" cy="548640"/>
          </a:xfrm>
          <a:prstGeom prst="rect">
            <a:avLst/>
          </a:prstGeom>
          <a:noFill/>
          <a:ln/>
        </p:spPr>
        <p:txBody>
          <a:bodyPr wrap="square" lIns="0" tIns="0" rIns="0" bIns="0" rtlCol="0" anchor="ctr"/>
          <a:lstStyle/>
          <a:p>
            <a:pPr indent="0" marL="0">
              <a:buNone/>
            </a:pPr>
            <a:r>
              <a:rPr lang="en-US" sz="2600" b="1" dirty="0">
                <a:solidFill>
                  <a:schemeClr val="bg1"/>
                </a:solidFill>
              </a:rPr>
              <a:t>Continuous evals</a:t>
            </a:r>
            <a:endParaRPr lang="en-US" sz="2600" dirty="0"/>
          </a:p>
        </p:txBody>
      </p:sp>
      <p:sp>
        <p:nvSpPr>
          <p:cNvPr id="11" name="Text 9"/>
          <p:cNvSpPr txBox="1"/>
          <p:nvPr/>
        </p:nvSpPr>
        <p:spPr>
          <a:xfrm>
            <a:off x="6644488" y="3246120"/>
            <a:ext cx="4587088" cy="27432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accent6"/>
                </a:solidFill>
              </a:rPr>
              <a:t>20 to 50 real tasks with accepted outcomes</a:t>
            </a:r>
            <a:endParaRPr lang="en-US" sz="1800" dirty="0"/>
          </a:p>
          <a:p>
            <a:pPr marL="342900" indent="-342900">
              <a:spcAft>
                <a:spcPts val="1000"/>
              </a:spcAft>
              <a:buSzPct val="100000"/>
              <a:buChar char="•"/>
            </a:pPr>
            <a:r>
              <a:rPr lang="en-US" sz="1800" dirty="0">
                <a:solidFill>
                  <a:schemeClr val="accent6"/>
                </a:solidFill>
              </a:rPr>
              <a:t>Run when AGENTS.md, skills or hooks change</a:t>
            </a:r>
            <a:endParaRPr lang="en-US" sz="1800" dirty="0"/>
          </a:p>
          <a:p>
            <a:pPr marL="342900" indent="-342900">
              <a:spcAft>
                <a:spcPts val="1000"/>
              </a:spcAft>
              <a:buSzPct val="100000"/>
              <a:buChar char="•"/>
            </a:pPr>
            <a:r>
              <a:rPr lang="en-US" sz="1800" dirty="0">
                <a:solidFill>
                  <a:schemeClr val="accent6"/>
                </a:solidFill>
              </a:rPr>
              <a:t>A drop in pass rate is reviewed before merge</a:t>
            </a:r>
            <a:endParaRPr lang="en-US" sz="1800" dirty="0"/>
          </a:p>
          <a:p>
            <a:pPr marL="342900" indent="-342900">
              <a:spcAft>
                <a:spcPts val="1000"/>
              </a:spcAft>
              <a:buSzPct val="100000"/>
              <a:buChar char="•"/>
            </a:pPr>
            <a:r>
              <a:rPr lang="en-US" sz="1800" dirty="0">
                <a:solidFill>
                  <a:schemeClr val="accent6"/>
                </a:solidFill>
              </a:rPr>
              <a:t>Every incident becomes a new eval</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4415"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STAGE 5 · DEPLOY</a:t>
            </a:r>
            <a:endParaRPr lang="en-US" sz="1400" dirty="0"/>
          </a:p>
        </p:txBody>
      </p:sp>
      <p:sp>
        <p:nvSpPr>
          <p:cNvPr id="3" name="Text 0"/>
          <p:cNvSpPr/>
          <p:nvPr>
            <p:ph idx="101" type="title" hasCustomPrompt="1"/>
          </p:nvPr>
        </p:nvSpPr>
        <p:spPr>
          <a:xfrm>
            <a:off x="548640" y="82296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The agent checks and fixes. Humans approve.</a:t>
            </a:r>
            <a:endParaRPr lang="en-US" sz="3400" dirty="0"/>
          </a:p>
        </p:txBody>
      </p:sp>
      <p:sp>
        <p:nvSpPr>
          <p:cNvPr id="4" name="REVIEW.md card"/>
          <p:cNvSpPr/>
          <p:nvPr/>
        </p:nvSpPr>
        <p:spPr>
          <a:xfrm>
            <a:off x="548640" y="1828800"/>
            <a:ext cx="3515258" cy="2743200"/>
          </a:xfrm>
          <a:prstGeom prst="roundRect">
            <a:avLst>
              <a:gd name="adj" fmla="val 4000"/>
            </a:avLst>
          </a:prstGeom>
          <a:solidFill>
            <a:schemeClr val="bg2"/>
          </a:solidFill>
          <a:ln w="12700">
            <a:solidFill>
              <a:schemeClr val="bg2"/>
            </a:solidFill>
            <a:prstDash val="solid"/>
          </a:ln>
        </p:spPr>
      </p:sp>
      <p:sp>
        <p:nvSpPr>
          <p:cNvPr id="5" name="Text 3"/>
          <p:cNvSpPr txBox="1"/>
          <p:nvPr/>
        </p:nvSpPr>
        <p:spPr>
          <a:xfrm>
            <a:off x="914400" y="2103120"/>
            <a:ext cx="2783738" cy="502920"/>
          </a:xfrm>
          <a:prstGeom prst="rect">
            <a:avLst/>
          </a:prstGeom>
          <a:noFill/>
          <a:ln/>
        </p:spPr>
        <p:txBody>
          <a:bodyPr wrap="square" lIns="0" tIns="0" rIns="0" bIns="0" rtlCol="0" anchor="ctr"/>
          <a:lstStyle/>
          <a:p>
            <a:pPr indent="0" marL="0">
              <a:buNone/>
            </a:pPr>
            <a:r>
              <a:rPr lang="en-US" sz="2200" b="1" dirty="0">
                <a:solidFill>
                  <a:schemeClr val="tx1"/>
                </a:solidFill>
              </a:rPr>
              <a:t>REVIEW.md</a:t>
            </a:r>
            <a:endParaRPr lang="en-US" sz="2200" dirty="0"/>
          </a:p>
        </p:txBody>
      </p:sp>
      <p:sp>
        <p:nvSpPr>
          <p:cNvPr id="6" name="Text 4"/>
          <p:cNvSpPr txBox="1"/>
          <p:nvPr/>
        </p:nvSpPr>
        <p:spPr>
          <a:xfrm>
            <a:off x="914400" y="2697480"/>
            <a:ext cx="2783738" cy="1737360"/>
          </a:xfrm>
          <a:prstGeom prst="rect">
            <a:avLst/>
          </a:prstGeom>
          <a:noFill/>
          <a:ln/>
        </p:spPr>
        <p:txBody>
          <a:bodyPr wrap="square" lIns="0" tIns="0" rIns="0" bIns="0" rtlCol="0" anchor="t"/>
          <a:lstStyle/>
          <a:p>
            <a:pPr indent="0" marL="0">
              <a:buNone/>
            </a:pPr>
            <a:r>
              <a:rPr lang="en-US" sz="1700" dirty="0">
                <a:solidFill>
                  <a:schemeClr val="tx2"/>
                </a:solidFill>
              </a:rPr>
              <a:t>Every PR gets three passes: bugs, security and compliance with the spec and plan. Findings are ranked Important or Nit.</a:t>
            </a:r>
            <a:endParaRPr lang="en-US" sz="1700" dirty="0"/>
          </a:p>
        </p:txBody>
      </p:sp>
      <p:sp>
        <p:nvSpPr>
          <p:cNvPr id="7" name="@claude fixes card"/>
          <p:cNvSpPr/>
          <p:nvPr/>
        </p:nvSpPr>
        <p:spPr>
          <a:xfrm>
            <a:off x="4338218" y="1828800"/>
            <a:ext cx="3515258" cy="2743200"/>
          </a:xfrm>
          <a:prstGeom prst="roundRect">
            <a:avLst>
              <a:gd name="adj" fmla="val 4000"/>
            </a:avLst>
          </a:prstGeom>
          <a:solidFill>
            <a:schemeClr val="bg2"/>
          </a:solidFill>
          <a:ln w="12700">
            <a:solidFill>
              <a:schemeClr val="bg2"/>
            </a:solidFill>
            <a:prstDash val="solid"/>
          </a:ln>
        </p:spPr>
      </p:sp>
      <p:sp>
        <p:nvSpPr>
          <p:cNvPr id="8" name="Text 6"/>
          <p:cNvSpPr txBox="1"/>
          <p:nvPr/>
        </p:nvSpPr>
        <p:spPr>
          <a:xfrm>
            <a:off x="4703978" y="2103120"/>
            <a:ext cx="2783738" cy="502920"/>
          </a:xfrm>
          <a:prstGeom prst="rect">
            <a:avLst/>
          </a:prstGeom>
          <a:noFill/>
          <a:ln/>
        </p:spPr>
        <p:txBody>
          <a:bodyPr wrap="square" lIns="0" tIns="0" rIns="0" bIns="0" rtlCol="0" anchor="ctr"/>
          <a:lstStyle/>
          <a:p>
            <a:pPr indent="0" marL="0">
              <a:buNone/>
            </a:pPr>
            <a:r>
              <a:rPr lang="en-US" sz="2200" b="1" dirty="0">
                <a:solidFill>
                  <a:schemeClr val="tx1"/>
                </a:solidFill>
              </a:rPr>
              <a:t>@claude fixes</a:t>
            </a:r>
            <a:endParaRPr lang="en-US" sz="2200" dirty="0"/>
          </a:p>
        </p:txBody>
      </p:sp>
      <p:sp>
        <p:nvSpPr>
          <p:cNvPr id="9" name="Text 7"/>
          <p:cNvSpPr txBox="1"/>
          <p:nvPr/>
        </p:nvSpPr>
        <p:spPr>
          <a:xfrm>
            <a:off x="4703978" y="2697480"/>
            <a:ext cx="2783738" cy="1737360"/>
          </a:xfrm>
          <a:prstGeom prst="rect">
            <a:avLst/>
          </a:prstGeom>
          <a:noFill/>
          <a:ln/>
        </p:spPr>
        <p:txBody>
          <a:bodyPr wrap="square" lIns="0" tIns="0" rIns="0" bIns="0" rtlCol="0" anchor="t"/>
          <a:lstStyle/>
          <a:p>
            <a:pPr indent="0" marL="0">
              <a:buNone/>
            </a:pPr>
            <a:r>
              <a:rPr lang="en-US" sz="1700" dirty="0">
                <a:solidFill>
                  <a:schemeClr val="tx2"/>
                </a:solidFill>
              </a:rPr>
              <a:t>Tag a review comment and the agent pushes the fix. Mistakes seen twice go into AGENTS.md.</a:t>
            </a:r>
            <a:endParaRPr lang="en-US" sz="1700" dirty="0"/>
          </a:p>
        </p:txBody>
      </p:sp>
      <p:sp>
        <p:nvSpPr>
          <p:cNvPr id="10" name="Hooks as gates card"/>
          <p:cNvSpPr/>
          <p:nvPr/>
        </p:nvSpPr>
        <p:spPr>
          <a:xfrm>
            <a:off x="8127797" y="1828800"/>
            <a:ext cx="3515258" cy="2743200"/>
          </a:xfrm>
          <a:prstGeom prst="roundRect">
            <a:avLst>
              <a:gd name="adj" fmla="val 4000"/>
            </a:avLst>
          </a:prstGeom>
          <a:solidFill>
            <a:schemeClr val="bg2"/>
          </a:solidFill>
          <a:ln w="12700">
            <a:solidFill>
              <a:schemeClr val="bg2"/>
            </a:solidFill>
            <a:prstDash val="solid"/>
          </a:ln>
        </p:spPr>
      </p:sp>
      <p:sp>
        <p:nvSpPr>
          <p:cNvPr id="11" name="Text 9"/>
          <p:cNvSpPr txBox="1"/>
          <p:nvPr/>
        </p:nvSpPr>
        <p:spPr>
          <a:xfrm>
            <a:off x="8493557" y="2103120"/>
            <a:ext cx="2783738" cy="502920"/>
          </a:xfrm>
          <a:prstGeom prst="rect">
            <a:avLst/>
          </a:prstGeom>
          <a:noFill/>
          <a:ln/>
        </p:spPr>
        <p:txBody>
          <a:bodyPr wrap="square" lIns="0" tIns="0" rIns="0" bIns="0" rtlCol="0" anchor="ctr"/>
          <a:lstStyle/>
          <a:p>
            <a:pPr indent="0" marL="0">
              <a:buNone/>
            </a:pPr>
            <a:r>
              <a:rPr lang="en-US" sz="2200" b="1" dirty="0">
                <a:solidFill>
                  <a:schemeClr val="tx1"/>
                </a:solidFill>
              </a:rPr>
              <a:t>Hooks as gates</a:t>
            </a:r>
            <a:endParaRPr lang="en-US" sz="2200" dirty="0"/>
          </a:p>
        </p:txBody>
      </p:sp>
      <p:sp>
        <p:nvSpPr>
          <p:cNvPr id="12" name="Text 10"/>
          <p:cNvSpPr txBox="1"/>
          <p:nvPr/>
        </p:nvSpPr>
        <p:spPr>
          <a:xfrm>
            <a:off x="8493557" y="2697480"/>
            <a:ext cx="2783738" cy="1737360"/>
          </a:xfrm>
          <a:prstGeom prst="rect">
            <a:avLst/>
          </a:prstGeom>
          <a:noFill/>
          <a:ln/>
        </p:spPr>
        <p:txBody>
          <a:bodyPr wrap="square" lIns="0" tIns="0" rIns="0" bIns="0" rtlCol="0" anchor="t"/>
          <a:lstStyle/>
          <a:p>
            <a:pPr indent="0" marL="0">
              <a:buNone/>
            </a:pPr>
            <a:r>
              <a:rPr lang="en-US" sz="1700" dirty="0">
                <a:solidFill>
                  <a:schemeClr val="tx2"/>
                </a:solidFill>
              </a:rPr>
              <a:t>A production deploy is blocked until a release approval exists, every time, for everyone.</a:t>
            </a:r>
            <a:endParaRPr lang="en-US" sz="1700" dirty="0"/>
          </a:p>
        </p:txBody>
      </p:sp>
      <p:sp>
        <p:nvSpPr>
          <p:cNvPr id="13" name="Approval callout"/>
          <p:cNvSpPr/>
          <p:nvPr/>
        </p:nvSpPr>
        <p:spPr>
          <a:xfrm>
            <a:off x="548640" y="4937760"/>
            <a:ext cx="11094415" cy="1005840"/>
          </a:xfrm>
          <a:prstGeom prst="roundRect">
            <a:avLst>
              <a:gd name="adj" fmla="val 10909"/>
            </a:avLst>
          </a:prstGeom>
          <a:solidFill>
            <a:schemeClr val="tx1"/>
          </a:solidFill>
          <a:ln w="12700">
            <a:solidFill>
              <a:schemeClr val="tx1"/>
            </a:solidFill>
            <a:prstDash val="solid"/>
          </a:ln>
        </p:spPr>
      </p:sp>
      <p:sp>
        <p:nvSpPr>
          <p:cNvPr id="14" name="Text 12"/>
          <p:cNvSpPr txBox="1"/>
          <p:nvPr/>
        </p:nvSpPr>
        <p:spPr>
          <a:xfrm>
            <a:off x="960120" y="4937760"/>
            <a:ext cx="10271455" cy="1005840"/>
          </a:xfrm>
          <a:prstGeom prst="rect">
            <a:avLst/>
          </a:prstGeom>
          <a:noFill/>
          <a:ln/>
        </p:spPr>
        <p:txBody>
          <a:bodyPr wrap="square" lIns="0" tIns="0" rIns="0" bIns="0" rtlCol="0" anchor="ctr"/>
          <a:lstStyle/>
          <a:p>
            <a:pPr indent="0" marL="0">
              <a:buNone/>
            </a:pPr>
            <a:r>
              <a:rPr lang="en-US" sz="2200" dirty="0">
                <a:solidFill>
                  <a:schemeClr val="bg1"/>
                </a:solidFill>
              </a:rPr>
              <a:t>AI findings never approve or block a PR. </a:t>
            </a:r>
            <a:pPr indent="0" marL="0">
              <a:buNone/>
            </a:pPr>
            <a:r>
              <a:rPr lang="en-US" sz="2200" b="1" dirty="0">
                <a:solidFill>
                  <a:schemeClr val="accent1"/>
                </a:solidFill>
              </a:rPr>
              <a:t>A code owner always does.</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4415"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STAGE 6 · MAINTAIN</a:t>
            </a:r>
            <a:endParaRPr lang="en-US" sz="1400" dirty="0"/>
          </a:p>
        </p:txBody>
      </p:sp>
      <p:sp>
        <p:nvSpPr>
          <p:cNvPr id="3" name="Text 0"/>
          <p:cNvSpPr/>
          <p:nvPr>
            <p:ph idx="101" type="title" hasCustomPrompt="1"/>
          </p:nvPr>
        </p:nvSpPr>
        <p:spPr>
          <a:xfrm>
            <a:off x="548640" y="82296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Production problems restart the loop on their own</a:t>
            </a:r>
            <a:endParaRPr lang="en-US" sz="3400" dirty="0"/>
          </a:p>
        </p:txBody>
      </p:sp>
      <p:sp>
        <p:nvSpPr>
          <p:cNvPr id="4" name="1σ tier"/>
          <p:cNvSpPr/>
          <p:nvPr/>
        </p:nvSpPr>
        <p:spPr>
          <a:xfrm>
            <a:off x="548640" y="2560320"/>
            <a:ext cx="3515258" cy="2194560"/>
          </a:xfrm>
          <a:prstGeom prst="roundRect">
            <a:avLst>
              <a:gd name="adj" fmla="val 5000"/>
            </a:avLst>
          </a:prstGeom>
          <a:solidFill>
            <a:schemeClr val="bg2"/>
          </a:solidFill>
          <a:ln w="12700">
            <a:solidFill>
              <a:schemeClr val="bg2"/>
            </a:solidFill>
            <a:prstDash val="solid"/>
          </a:ln>
        </p:spPr>
      </p:sp>
      <p:sp>
        <p:nvSpPr>
          <p:cNvPr id="5" name="Text 3"/>
          <p:cNvSpPr txBox="1"/>
          <p:nvPr/>
        </p:nvSpPr>
        <p:spPr>
          <a:xfrm>
            <a:off x="914400" y="2834640"/>
            <a:ext cx="2783738" cy="640080"/>
          </a:xfrm>
          <a:prstGeom prst="rect">
            <a:avLst/>
          </a:prstGeom>
          <a:noFill/>
          <a:ln/>
        </p:spPr>
        <p:txBody>
          <a:bodyPr wrap="square" lIns="0" tIns="0" rIns="0" bIns="0" rtlCol="0" anchor="ctr"/>
          <a:lstStyle/>
          <a:p>
            <a:pPr indent="0" marL="0">
              <a:buNone/>
            </a:pPr>
            <a:r>
              <a:rPr lang="en-US" sz="3200" b="1" dirty="0">
                <a:solidFill>
                  <a:schemeClr val="tx2"/>
                </a:solidFill>
              </a:rPr>
              <a:t>1σ</a:t>
            </a:r>
            <a:endParaRPr lang="en-US" sz="3200" dirty="0"/>
          </a:p>
        </p:txBody>
      </p:sp>
      <p:sp>
        <p:nvSpPr>
          <p:cNvPr id="6" name="Text 4"/>
          <p:cNvSpPr txBox="1"/>
          <p:nvPr/>
        </p:nvSpPr>
        <p:spPr>
          <a:xfrm>
            <a:off x="914400" y="3474720"/>
            <a:ext cx="2783738" cy="411480"/>
          </a:xfrm>
          <a:prstGeom prst="rect">
            <a:avLst/>
          </a:prstGeom>
          <a:noFill/>
          <a:ln/>
        </p:spPr>
        <p:txBody>
          <a:bodyPr wrap="square" lIns="0" tIns="0" rIns="0" bIns="0" rtlCol="0" anchor="ctr"/>
          <a:lstStyle/>
          <a:p>
            <a:pPr indent="0" marL="0">
              <a:buNone/>
            </a:pPr>
            <a:r>
              <a:rPr lang="en-US" sz="2000" b="1" dirty="0">
                <a:solidFill>
                  <a:schemeClr val="tx1"/>
                </a:solidFill>
              </a:rPr>
              <a:t>A little unusual</a:t>
            </a:r>
            <a:endParaRPr lang="en-US" sz="2000" dirty="0"/>
          </a:p>
        </p:txBody>
      </p:sp>
      <p:sp>
        <p:nvSpPr>
          <p:cNvPr id="7" name="Text 5"/>
          <p:cNvSpPr txBox="1"/>
          <p:nvPr/>
        </p:nvSpPr>
        <p:spPr>
          <a:xfrm>
            <a:off x="914400" y="3931920"/>
            <a:ext cx="2783738" cy="640080"/>
          </a:xfrm>
          <a:prstGeom prst="rect">
            <a:avLst/>
          </a:prstGeom>
          <a:noFill/>
          <a:ln/>
        </p:spPr>
        <p:txBody>
          <a:bodyPr wrap="square" lIns="0" tIns="0" rIns="0" bIns="0" rtlCol="0" anchor="t"/>
          <a:lstStyle/>
          <a:p>
            <a:pPr indent="0" marL="0">
              <a:buNone/>
            </a:pPr>
            <a:r>
              <a:rPr lang="en-US" sz="1700" dirty="0">
                <a:solidFill>
                  <a:schemeClr val="tx2"/>
                </a:solidFill>
              </a:rPr>
              <a:t>Log it</a:t>
            </a:r>
            <a:endParaRPr lang="en-US" sz="1700" dirty="0"/>
          </a:p>
        </p:txBody>
      </p:sp>
      <p:sp>
        <p:nvSpPr>
          <p:cNvPr id="8" name="2σ tier"/>
          <p:cNvSpPr/>
          <p:nvPr/>
        </p:nvSpPr>
        <p:spPr>
          <a:xfrm>
            <a:off x="4338218" y="2194560"/>
            <a:ext cx="3515258" cy="2560320"/>
          </a:xfrm>
          <a:prstGeom prst="roundRect">
            <a:avLst>
              <a:gd name="adj" fmla="val 4286"/>
            </a:avLst>
          </a:prstGeom>
          <a:solidFill>
            <a:schemeClr val="accent5"/>
          </a:solidFill>
          <a:ln w="12700">
            <a:solidFill>
              <a:schemeClr val="accent5"/>
            </a:solidFill>
            <a:prstDash val="solid"/>
          </a:ln>
        </p:spPr>
      </p:sp>
      <p:sp>
        <p:nvSpPr>
          <p:cNvPr id="9" name="Text 7"/>
          <p:cNvSpPr txBox="1"/>
          <p:nvPr/>
        </p:nvSpPr>
        <p:spPr>
          <a:xfrm>
            <a:off x="4703978" y="2468880"/>
            <a:ext cx="2783738" cy="640080"/>
          </a:xfrm>
          <a:prstGeom prst="rect">
            <a:avLst/>
          </a:prstGeom>
          <a:noFill/>
          <a:ln/>
        </p:spPr>
        <p:txBody>
          <a:bodyPr wrap="square" lIns="0" tIns="0" rIns="0" bIns="0" rtlCol="0" anchor="ctr"/>
          <a:lstStyle/>
          <a:p>
            <a:pPr indent="0" marL="0">
              <a:buNone/>
            </a:pPr>
            <a:r>
              <a:rPr lang="en-US" sz="3200" b="1" dirty="0">
                <a:solidFill>
                  <a:schemeClr val="tx1"/>
                </a:solidFill>
              </a:rPr>
              <a:t>2σ</a:t>
            </a:r>
            <a:endParaRPr lang="en-US" sz="3200" dirty="0"/>
          </a:p>
        </p:txBody>
      </p:sp>
      <p:sp>
        <p:nvSpPr>
          <p:cNvPr id="10" name="Text 8"/>
          <p:cNvSpPr txBox="1"/>
          <p:nvPr/>
        </p:nvSpPr>
        <p:spPr>
          <a:xfrm>
            <a:off x="4703978" y="3108960"/>
            <a:ext cx="2783738" cy="411480"/>
          </a:xfrm>
          <a:prstGeom prst="rect">
            <a:avLst/>
          </a:prstGeom>
          <a:noFill/>
          <a:ln/>
        </p:spPr>
        <p:txBody>
          <a:bodyPr wrap="square" lIns="0" tIns="0" rIns="0" bIns="0" rtlCol="0" anchor="ctr"/>
          <a:lstStyle/>
          <a:p>
            <a:pPr indent="0" marL="0">
              <a:buNone/>
            </a:pPr>
            <a:r>
              <a:rPr lang="en-US" sz="2000" b="1" dirty="0">
                <a:solidFill>
                  <a:schemeClr val="tx1"/>
                </a:solidFill>
              </a:rPr>
              <a:t>Quite unusual</a:t>
            </a:r>
            <a:endParaRPr lang="en-US" sz="2000" dirty="0"/>
          </a:p>
        </p:txBody>
      </p:sp>
      <p:sp>
        <p:nvSpPr>
          <p:cNvPr id="11" name="Text 9"/>
          <p:cNvSpPr txBox="1"/>
          <p:nvPr/>
        </p:nvSpPr>
        <p:spPr>
          <a:xfrm>
            <a:off x="4703978" y="3566160"/>
            <a:ext cx="2783738" cy="1005840"/>
          </a:xfrm>
          <a:prstGeom prst="rect">
            <a:avLst/>
          </a:prstGeom>
          <a:noFill/>
          <a:ln/>
        </p:spPr>
        <p:txBody>
          <a:bodyPr wrap="square" lIns="0" tIns="0" rIns="0" bIns="0" rtlCol="0" anchor="t"/>
          <a:lstStyle/>
          <a:p>
            <a:pPr indent="0" marL="0">
              <a:buNone/>
            </a:pPr>
            <a:r>
              <a:rPr lang="en-US" sz="1700" dirty="0">
                <a:solidFill>
                  <a:schemeClr val="tx1"/>
                </a:solidFill>
              </a:rPr>
              <a:t>The agent investigates, read-only</a:t>
            </a:r>
            <a:endParaRPr lang="en-US" sz="1700" dirty="0"/>
          </a:p>
        </p:txBody>
      </p:sp>
      <p:sp>
        <p:nvSpPr>
          <p:cNvPr id="12" name="3σ tier"/>
          <p:cNvSpPr/>
          <p:nvPr/>
        </p:nvSpPr>
        <p:spPr>
          <a:xfrm>
            <a:off x="8127797" y="1828800"/>
            <a:ext cx="3515258" cy="2926080"/>
          </a:xfrm>
          <a:prstGeom prst="roundRect">
            <a:avLst>
              <a:gd name="adj" fmla="val 3750"/>
            </a:avLst>
          </a:prstGeom>
          <a:solidFill>
            <a:schemeClr val="tx1"/>
          </a:solidFill>
          <a:ln w="12700">
            <a:solidFill>
              <a:schemeClr val="tx1"/>
            </a:solidFill>
            <a:prstDash val="solid"/>
          </a:ln>
        </p:spPr>
      </p:sp>
      <p:sp>
        <p:nvSpPr>
          <p:cNvPr id="13" name="Text 11"/>
          <p:cNvSpPr txBox="1"/>
          <p:nvPr/>
        </p:nvSpPr>
        <p:spPr>
          <a:xfrm>
            <a:off x="8493557" y="2103120"/>
            <a:ext cx="2783738" cy="640080"/>
          </a:xfrm>
          <a:prstGeom prst="rect">
            <a:avLst/>
          </a:prstGeom>
          <a:noFill/>
          <a:ln/>
        </p:spPr>
        <p:txBody>
          <a:bodyPr wrap="square" lIns="0" tIns="0" rIns="0" bIns="0" rtlCol="0" anchor="ctr"/>
          <a:lstStyle/>
          <a:p>
            <a:pPr indent="0" marL="0">
              <a:buNone/>
            </a:pPr>
            <a:r>
              <a:rPr lang="en-US" sz="3200" b="1" dirty="0">
                <a:solidFill>
                  <a:schemeClr val="accent1"/>
                </a:solidFill>
              </a:rPr>
              <a:t>3σ</a:t>
            </a:r>
            <a:endParaRPr lang="en-US" sz="3200" dirty="0"/>
          </a:p>
        </p:txBody>
      </p:sp>
      <p:sp>
        <p:nvSpPr>
          <p:cNvPr id="14" name="Text 12"/>
          <p:cNvSpPr txBox="1"/>
          <p:nvPr/>
        </p:nvSpPr>
        <p:spPr>
          <a:xfrm>
            <a:off x="8493557" y="2743200"/>
            <a:ext cx="2783738" cy="411480"/>
          </a:xfrm>
          <a:prstGeom prst="rect">
            <a:avLst/>
          </a:prstGeom>
          <a:noFill/>
          <a:ln/>
        </p:spPr>
        <p:txBody>
          <a:bodyPr wrap="square" lIns="0" tIns="0" rIns="0" bIns="0" rtlCol="0" anchor="ctr"/>
          <a:lstStyle/>
          <a:p>
            <a:pPr indent="0" marL="0">
              <a:buNone/>
            </a:pPr>
            <a:r>
              <a:rPr lang="en-US" sz="2000" b="1" dirty="0">
                <a:solidFill>
                  <a:schemeClr val="bg1"/>
                </a:solidFill>
              </a:rPr>
              <a:t>Very unusual</a:t>
            </a:r>
            <a:endParaRPr lang="en-US" sz="2000" dirty="0"/>
          </a:p>
        </p:txBody>
      </p:sp>
      <p:sp>
        <p:nvSpPr>
          <p:cNvPr id="15" name="Text 13"/>
          <p:cNvSpPr txBox="1"/>
          <p:nvPr/>
        </p:nvSpPr>
        <p:spPr>
          <a:xfrm>
            <a:off x="8493557" y="3200400"/>
            <a:ext cx="2783738" cy="1371600"/>
          </a:xfrm>
          <a:prstGeom prst="rect">
            <a:avLst/>
          </a:prstGeom>
          <a:noFill/>
          <a:ln/>
        </p:spPr>
        <p:txBody>
          <a:bodyPr wrap="square" lIns="0" tIns="0" rIns="0" bIns="0" rtlCol="0" anchor="t"/>
          <a:lstStyle/>
          <a:p>
            <a:pPr indent="0" marL="0">
              <a:buNone/>
            </a:pPr>
            <a:r>
              <a:rPr lang="en-US" sz="1700" dirty="0">
                <a:solidFill>
                  <a:schemeClr val="accent6"/>
                </a:solidFill>
              </a:rPr>
              <a:t>The agent acts, only through a PR or an approved runbook</a:t>
            </a:r>
            <a:endParaRPr lang="en-US" sz="1700" dirty="0"/>
          </a:p>
        </p:txBody>
      </p:sp>
      <p:sp>
        <p:nvSpPr>
          <p:cNvPr id="16" name="Text 14"/>
          <p:cNvSpPr txBox="1"/>
          <p:nvPr/>
        </p:nvSpPr>
        <p:spPr>
          <a:xfrm>
            <a:off x="548640" y="5029200"/>
            <a:ext cx="11094415" cy="914400"/>
          </a:xfrm>
          <a:prstGeom prst="rect">
            <a:avLst/>
          </a:prstGeom>
          <a:noFill/>
          <a:ln/>
        </p:spPr>
        <p:txBody>
          <a:bodyPr wrap="square" lIns="0" tIns="0" rIns="0" bIns="0" rtlCol="0" anchor="t"/>
          <a:lstStyle/>
          <a:p>
            <a:pPr indent="0" marL="0">
              <a:buNone/>
            </a:pPr>
            <a:r>
              <a:rPr lang="en-US" sz="1900" dirty="0">
                <a:solidFill>
                  <a:schemeClr val="tx2"/>
                </a:solidFill>
              </a:rPr>
              <a:t>A simple script, not AI, watches the metric. The agent writes what it finds as a new intent.md, and a person triages it: fix now, schedule or dismiss.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4415" cy="822960"/>
          </a:xfrm>
          <a:prstGeom prst="rect">
            <a:avLst/>
          </a:prstGeom>
          <a:noFill/>
          <a:ln/>
        </p:spPr>
        <p:txBody>
          <a:bodyPr wrap="square" lIns="0" tIns="0" rIns="0" bIns="0" rtlCol="0" anchor="t"/>
          <a:lstStyle/>
          <a:p>
            <a:pPr algn="l" indent="0" marL="0">
              <a:buNone/>
            </a:pPr>
            <a:r>
              <a:rPr lang="en-US" sz="3400" b="1" dirty="0">
                <a:solidFill>
                  <a:schemeClr val="bg1"/>
                </a:solidFill>
              </a:rPr>
              <a:t>The SDLC becomes a loop</a:t>
            </a:r>
            <a:endParaRPr lang="en-US" sz="3400" dirty="0"/>
          </a:p>
        </p:txBody>
      </p:sp>
      <p:sp>
        <p:nvSpPr>
          <p:cNvPr id="3" name="Plan step"/>
          <p:cNvSpPr/>
          <p:nvPr/>
        </p:nvSpPr>
        <p:spPr>
          <a:xfrm>
            <a:off x="548640" y="2468880"/>
            <a:ext cx="1544269" cy="1371600"/>
          </a:xfrm>
          <a:prstGeom prst="roundRect">
            <a:avLst>
              <a:gd name="adj" fmla="val 8000"/>
            </a:avLst>
          </a:prstGeom>
          <a:solidFill>
            <a:schemeClr val="accent3"/>
          </a:solidFill>
          <a:ln w="12700">
            <a:solidFill>
              <a:schemeClr val="accent3"/>
            </a:solidFill>
            <a:prstDash val="solid"/>
          </a:ln>
        </p:spPr>
      </p:sp>
      <p:sp>
        <p:nvSpPr>
          <p:cNvPr id="4" name="Text 2"/>
          <p:cNvSpPr txBox="1"/>
          <p:nvPr/>
        </p:nvSpPr>
        <p:spPr>
          <a:xfrm>
            <a:off x="548640" y="2697480"/>
            <a:ext cx="1544269" cy="457200"/>
          </a:xfrm>
          <a:prstGeom prst="rect">
            <a:avLst/>
          </a:prstGeom>
          <a:noFill/>
          <a:ln/>
        </p:spPr>
        <p:txBody>
          <a:bodyPr wrap="square" lIns="0" tIns="0" rIns="0" bIns="0" rtlCol="0" anchor="ctr"/>
          <a:lstStyle/>
          <a:p>
            <a:pPr algn="ctr" indent="0" marL="0">
              <a:buNone/>
            </a:pPr>
            <a:r>
              <a:rPr lang="en-US" sz="2000" b="1" dirty="0">
                <a:solidFill>
                  <a:schemeClr val="bg1"/>
                </a:solidFill>
              </a:rPr>
              <a:t>Plan</a:t>
            </a:r>
            <a:endParaRPr lang="en-US" sz="2000" dirty="0"/>
          </a:p>
        </p:txBody>
      </p:sp>
      <p:sp>
        <p:nvSpPr>
          <p:cNvPr id="5" name="Text 3"/>
          <p:cNvSpPr txBox="1"/>
          <p:nvPr/>
        </p:nvSpPr>
        <p:spPr>
          <a:xfrm>
            <a:off x="548640" y="3200400"/>
            <a:ext cx="1544269" cy="411480"/>
          </a:xfrm>
          <a:prstGeom prst="rect">
            <a:avLst/>
          </a:prstGeom>
          <a:noFill/>
          <a:ln/>
        </p:spPr>
        <p:txBody>
          <a:bodyPr wrap="square" lIns="0" tIns="0" rIns="0" bIns="0" rtlCol="0" anchor="ctr"/>
          <a:lstStyle/>
          <a:p>
            <a:pPr algn="ctr" indent="0" marL="0">
              <a:buNone/>
            </a:pPr>
            <a:r>
              <a:rPr lang="en-US" sz="1500" dirty="0">
                <a:solidFill>
                  <a:schemeClr val="accent4"/>
                </a:solidFill>
              </a:rPr>
              <a:t>intent.md</a:t>
            </a:r>
            <a:endParaRPr lang="en-US" sz="1500" dirty="0"/>
          </a:p>
        </p:txBody>
      </p:sp>
      <p:sp>
        <p:nvSpPr>
          <p:cNvPr id="6" name="Arrow 1"/>
          <p:cNvSpPr/>
          <p:nvPr/>
        </p:nvSpPr>
        <p:spPr>
          <a:xfrm>
            <a:off x="2166061" y="3044952"/>
            <a:ext cx="219456" cy="219456"/>
          </a:xfrm>
          <a:prstGeom prst="rightArrow">
            <a:avLst/>
          </a:prstGeom>
          <a:solidFill>
            <a:schemeClr val="accent1"/>
          </a:solidFill>
          <a:ln w="12700">
            <a:solidFill>
              <a:schemeClr val="accent1"/>
            </a:solidFill>
            <a:prstDash val="solid"/>
          </a:ln>
        </p:spPr>
      </p:sp>
      <p:sp>
        <p:nvSpPr>
          <p:cNvPr id="7" name="Design step"/>
          <p:cNvSpPr/>
          <p:nvPr/>
        </p:nvSpPr>
        <p:spPr>
          <a:xfrm>
            <a:off x="2458669" y="2468880"/>
            <a:ext cx="1544269" cy="1371600"/>
          </a:xfrm>
          <a:prstGeom prst="roundRect">
            <a:avLst>
              <a:gd name="adj" fmla="val 8000"/>
            </a:avLst>
          </a:prstGeom>
          <a:solidFill>
            <a:schemeClr val="accent3"/>
          </a:solidFill>
          <a:ln w="12700">
            <a:solidFill>
              <a:schemeClr val="accent3"/>
            </a:solidFill>
            <a:prstDash val="solid"/>
          </a:ln>
        </p:spPr>
      </p:sp>
      <p:sp>
        <p:nvSpPr>
          <p:cNvPr id="8" name="Text 6"/>
          <p:cNvSpPr txBox="1"/>
          <p:nvPr/>
        </p:nvSpPr>
        <p:spPr>
          <a:xfrm>
            <a:off x="2458669" y="2697480"/>
            <a:ext cx="1544269" cy="457200"/>
          </a:xfrm>
          <a:prstGeom prst="rect">
            <a:avLst/>
          </a:prstGeom>
          <a:noFill/>
          <a:ln/>
        </p:spPr>
        <p:txBody>
          <a:bodyPr wrap="square" lIns="0" tIns="0" rIns="0" bIns="0" rtlCol="0" anchor="ctr"/>
          <a:lstStyle/>
          <a:p>
            <a:pPr algn="ctr" indent="0" marL="0">
              <a:buNone/>
            </a:pPr>
            <a:r>
              <a:rPr lang="en-US" sz="2000" b="1" dirty="0">
                <a:solidFill>
                  <a:schemeClr val="bg1"/>
                </a:solidFill>
              </a:rPr>
              <a:t>Design</a:t>
            </a:r>
            <a:endParaRPr lang="en-US" sz="2000" dirty="0"/>
          </a:p>
        </p:txBody>
      </p:sp>
      <p:sp>
        <p:nvSpPr>
          <p:cNvPr id="9" name="Text 7"/>
          <p:cNvSpPr txBox="1"/>
          <p:nvPr/>
        </p:nvSpPr>
        <p:spPr>
          <a:xfrm>
            <a:off x="2458669" y="3200400"/>
            <a:ext cx="1544269" cy="411480"/>
          </a:xfrm>
          <a:prstGeom prst="rect">
            <a:avLst/>
          </a:prstGeom>
          <a:noFill/>
          <a:ln/>
        </p:spPr>
        <p:txBody>
          <a:bodyPr wrap="square" lIns="0" tIns="0" rIns="0" bIns="0" rtlCol="0" anchor="ctr"/>
          <a:lstStyle/>
          <a:p>
            <a:pPr algn="ctr" indent="0" marL="0">
              <a:buNone/>
            </a:pPr>
            <a:r>
              <a:rPr lang="en-US" sz="1500" dirty="0">
                <a:solidFill>
                  <a:schemeClr val="accent4"/>
                </a:solidFill>
              </a:rPr>
              <a:t>spec.md</a:t>
            </a:r>
            <a:endParaRPr lang="en-US" sz="1500" dirty="0"/>
          </a:p>
        </p:txBody>
      </p:sp>
      <p:sp>
        <p:nvSpPr>
          <p:cNvPr id="10" name="Arrow 2"/>
          <p:cNvSpPr/>
          <p:nvPr/>
        </p:nvSpPr>
        <p:spPr>
          <a:xfrm>
            <a:off x="4076090" y="3044952"/>
            <a:ext cx="219456" cy="219456"/>
          </a:xfrm>
          <a:prstGeom prst="rightArrow">
            <a:avLst/>
          </a:prstGeom>
          <a:solidFill>
            <a:schemeClr val="accent1"/>
          </a:solidFill>
          <a:ln w="12700">
            <a:solidFill>
              <a:schemeClr val="accent1"/>
            </a:solidFill>
            <a:prstDash val="solid"/>
          </a:ln>
        </p:spPr>
      </p:sp>
      <p:sp>
        <p:nvSpPr>
          <p:cNvPr id="11" name="Build step"/>
          <p:cNvSpPr/>
          <p:nvPr/>
        </p:nvSpPr>
        <p:spPr>
          <a:xfrm>
            <a:off x="4368698" y="2468880"/>
            <a:ext cx="1544269" cy="1371600"/>
          </a:xfrm>
          <a:prstGeom prst="roundRect">
            <a:avLst>
              <a:gd name="adj" fmla="val 8000"/>
            </a:avLst>
          </a:prstGeom>
          <a:solidFill>
            <a:schemeClr val="accent3"/>
          </a:solidFill>
          <a:ln w="12700">
            <a:solidFill>
              <a:schemeClr val="accent3"/>
            </a:solidFill>
            <a:prstDash val="solid"/>
          </a:ln>
        </p:spPr>
      </p:sp>
      <p:sp>
        <p:nvSpPr>
          <p:cNvPr id="12" name="Text 10"/>
          <p:cNvSpPr txBox="1"/>
          <p:nvPr/>
        </p:nvSpPr>
        <p:spPr>
          <a:xfrm>
            <a:off x="4368698" y="2697480"/>
            <a:ext cx="1544269" cy="457200"/>
          </a:xfrm>
          <a:prstGeom prst="rect">
            <a:avLst/>
          </a:prstGeom>
          <a:noFill/>
          <a:ln/>
        </p:spPr>
        <p:txBody>
          <a:bodyPr wrap="square" lIns="0" tIns="0" rIns="0" bIns="0" rtlCol="0" anchor="ctr"/>
          <a:lstStyle/>
          <a:p>
            <a:pPr algn="ctr" indent="0" marL="0">
              <a:buNone/>
            </a:pPr>
            <a:r>
              <a:rPr lang="en-US" sz="2000" b="1" dirty="0">
                <a:solidFill>
                  <a:schemeClr val="bg1"/>
                </a:solidFill>
              </a:rPr>
              <a:t>Build</a:t>
            </a:r>
            <a:endParaRPr lang="en-US" sz="2000" dirty="0"/>
          </a:p>
        </p:txBody>
      </p:sp>
      <p:sp>
        <p:nvSpPr>
          <p:cNvPr id="13" name="Text 11"/>
          <p:cNvSpPr txBox="1"/>
          <p:nvPr/>
        </p:nvSpPr>
        <p:spPr>
          <a:xfrm>
            <a:off x="4368698" y="3200400"/>
            <a:ext cx="1544269" cy="411480"/>
          </a:xfrm>
          <a:prstGeom prst="rect">
            <a:avLst/>
          </a:prstGeom>
          <a:noFill/>
          <a:ln/>
        </p:spPr>
        <p:txBody>
          <a:bodyPr wrap="square" lIns="0" tIns="0" rIns="0" bIns="0" rtlCol="0" anchor="ctr"/>
          <a:lstStyle/>
          <a:p>
            <a:pPr algn="ctr" indent="0" marL="0">
              <a:buNone/>
            </a:pPr>
            <a:r>
              <a:rPr lang="en-US" sz="1500" dirty="0">
                <a:solidFill>
                  <a:schemeClr val="accent4"/>
                </a:solidFill>
              </a:rPr>
              <a:t>plan.md</a:t>
            </a:r>
            <a:endParaRPr lang="en-US" sz="1500" dirty="0"/>
          </a:p>
        </p:txBody>
      </p:sp>
      <p:sp>
        <p:nvSpPr>
          <p:cNvPr id="14" name="Arrow 3"/>
          <p:cNvSpPr/>
          <p:nvPr/>
        </p:nvSpPr>
        <p:spPr>
          <a:xfrm>
            <a:off x="5986120" y="3044952"/>
            <a:ext cx="219456" cy="219456"/>
          </a:xfrm>
          <a:prstGeom prst="rightArrow">
            <a:avLst/>
          </a:prstGeom>
          <a:solidFill>
            <a:schemeClr val="accent1"/>
          </a:solidFill>
          <a:ln w="12700">
            <a:solidFill>
              <a:schemeClr val="accent1"/>
            </a:solidFill>
            <a:prstDash val="solid"/>
          </a:ln>
        </p:spPr>
      </p:sp>
      <p:sp>
        <p:nvSpPr>
          <p:cNvPr id="15" name="Test step"/>
          <p:cNvSpPr/>
          <p:nvPr/>
        </p:nvSpPr>
        <p:spPr>
          <a:xfrm>
            <a:off x="6278728" y="2468880"/>
            <a:ext cx="1544269" cy="1371600"/>
          </a:xfrm>
          <a:prstGeom prst="roundRect">
            <a:avLst>
              <a:gd name="adj" fmla="val 8000"/>
            </a:avLst>
          </a:prstGeom>
          <a:solidFill>
            <a:schemeClr val="accent3"/>
          </a:solidFill>
          <a:ln w="12700">
            <a:solidFill>
              <a:schemeClr val="accent3"/>
            </a:solidFill>
            <a:prstDash val="solid"/>
          </a:ln>
        </p:spPr>
      </p:sp>
      <p:sp>
        <p:nvSpPr>
          <p:cNvPr id="16" name="Text 14"/>
          <p:cNvSpPr txBox="1"/>
          <p:nvPr/>
        </p:nvSpPr>
        <p:spPr>
          <a:xfrm>
            <a:off x="6278728" y="2697480"/>
            <a:ext cx="1544269" cy="457200"/>
          </a:xfrm>
          <a:prstGeom prst="rect">
            <a:avLst/>
          </a:prstGeom>
          <a:noFill/>
          <a:ln/>
        </p:spPr>
        <p:txBody>
          <a:bodyPr wrap="square" lIns="0" tIns="0" rIns="0" bIns="0" rtlCol="0" anchor="ctr"/>
          <a:lstStyle/>
          <a:p>
            <a:pPr algn="ctr" indent="0" marL="0">
              <a:buNone/>
            </a:pPr>
            <a:r>
              <a:rPr lang="en-US" sz="2000" b="1" dirty="0">
                <a:solidFill>
                  <a:schemeClr val="bg1"/>
                </a:solidFill>
              </a:rPr>
              <a:t>Test</a:t>
            </a:r>
            <a:endParaRPr lang="en-US" sz="2000" dirty="0"/>
          </a:p>
        </p:txBody>
      </p:sp>
      <p:sp>
        <p:nvSpPr>
          <p:cNvPr id="17" name="Text 15"/>
          <p:cNvSpPr txBox="1"/>
          <p:nvPr/>
        </p:nvSpPr>
        <p:spPr>
          <a:xfrm>
            <a:off x="6278728" y="3200400"/>
            <a:ext cx="1544269" cy="411480"/>
          </a:xfrm>
          <a:prstGeom prst="rect">
            <a:avLst/>
          </a:prstGeom>
          <a:noFill/>
          <a:ln/>
        </p:spPr>
        <p:txBody>
          <a:bodyPr wrap="square" lIns="0" tIns="0" rIns="0" bIns="0" rtlCol="0" anchor="ctr"/>
          <a:lstStyle/>
          <a:p>
            <a:pPr algn="ctr" indent="0" marL="0">
              <a:buNone/>
            </a:pPr>
            <a:r>
              <a:rPr lang="en-US" sz="1500" dirty="0">
                <a:solidFill>
                  <a:schemeClr val="accent4"/>
                </a:solidFill>
              </a:rPr>
              <a:t>evals</a:t>
            </a:r>
            <a:endParaRPr lang="en-US" sz="1500" dirty="0"/>
          </a:p>
        </p:txBody>
      </p:sp>
      <p:sp>
        <p:nvSpPr>
          <p:cNvPr id="18" name="Arrow 4"/>
          <p:cNvSpPr/>
          <p:nvPr/>
        </p:nvSpPr>
        <p:spPr>
          <a:xfrm>
            <a:off x="7896149" y="3044952"/>
            <a:ext cx="219456" cy="219456"/>
          </a:xfrm>
          <a:prstGeom prst="rightArrow">
            <a:avLst/>
          </a:prstGeom>
          <a:solidFill>
            <a:schemeClr val="accent1"/>
          </a:solidFill>
          <a:ln w="12700">
            <a:solidFill>
              <a:schemeClr val="accent1"/>
            </a:solidFill>
            <a:prstDash val="solid"/>
          </a:ln>
        </p:spPr>
      </p:sp>
      <p:sp>
        <p:nvSpPr>
          <p:cNvPr id="19" name="Deploy step"/>
          <p:cNvSpPr/>
          <p:nvPr/>
        </p:nvSpPr>
        <p:spPr>
          <a:xfrm>
            <a:off x="8188757" y="2468880"/>
            <a:ext cx="1544269" cy="1371600"/>
          </a:xfrm>
          <a:prstGeom prst="roundRect">
            <a:avLst>
              <a:gd name="adj" fmla="val 8000"/>
            </a:avLst>
          </a:prstGeom>
          <a:solidFill>
            <a:schemeClr val="accent3"/>
          </a:solidFill>
          <a:ln w="12700">
            <a:solidFill>
              <a:schemeClr val="accent3"/>
            </a:solidFill>
            <a:prstDash val="solid"/>
          </a:ln>
        </p:spPr>
      </p:sp>
      <p:sp>
        <p:nvSpPr>
          <p:cNvPr id="20" name="Text 18"/>
          <p:cNvSpPr txBox="1"/>
          <p:nvPr/>
        </p:nvSpPr>
        <p:spPr>
          <a:xfrm>
            <a:off x="8188757" y="2697480"/>
            <a:ext cx="1544269" cy="457200"/>
          </a:xfrm>
          <a:prstGeom prst="rect">
            <a:avLst/>
          </a:prstGeom>
          <a:noFill/>
          <a:ln/>
        </p:spPr>
        <p:txBody>
          <a:bodyPr wrap="square" lIns="0" tIns="0" rIns="0" bIns="0" rtlCol="0" anchor="ctr"/>
          <a:lstStyle/>
          <a:p>
            <a:pPr algn="ctr" indent="0" marL="0">
              <a:buNone/>
            </a:pPr>
            <a:r>
              <a:rPr lang="en-US" sz="2000" b="1" dirty="0">
                <a:solidFill>
                  <a:schemeClr val="bg1"/>
                </a:solidFill>
              </a:rPr>
              <a:t>Deploy</a:t>
            </a:r>
            <a:endParaRPr lang="en-US" sz="2000" dirty="0"/>
          </a:p>
        </p:txBody>
      </p:sp>
      <p:sp>
        <p:nvSpPr>
          <p:cNvPr id="21" name="Text 19"/>
          <p:cNvSpPr txBox="1"/>
          <p:nvPr/>
        </p:nvSpPr>
        <p:spPr>
          <a:xfrm>
            <a:off x="8188757" y="3200400"/>
            <a:ext cx="1544269" cy="411480"/>
          </a:xfrm>
          <a:prstGeom prst="rect">
            <a:avLst/>
          </a:prstGeom>
          <a:noFill/>
          <a:ln/>
        </p:spPr>
        <p:txBody>
          <a:bodyPr wrap="square" lIns="0" tIns="0" rIns="0" bIns="0" rtlCol="0" anchor="ctr"/>
          <a:lstStyle/>
          <a:p>
            <a:pPr algn="ctr" indent="0" marL="0">
              <a:buNone/>
            </a:pPr>
            <a:r>
              <a:rPr lang="en-US" sz="1500" dirty="0">
                <a:solidFill>
                  <a:schemeClr val="accent4"/>
                </a:solidFill>
              </a:rPr>
              <a:t>REVIEW.md</a:t>
            </a:r>
            <a:endParaRPr lang="en-US" sz="1500" dirty="0"/>
          </a:p>
        </p:txBody>
      </p:sp>
      <p:sp>
        <p:nvSpPr>
          <p:cNvPr id="22" name="Arrow 5"/>
          <p:cNvSpPr/>
          <p:nvPr/>
        </p:nvSpPr>
        <p:spPr>
          <a:xfrm>
            <a:off x="9806178" y="3044952"/>
            <a:ext cx="219456" cy="219456"/>
          </a:xfrm>
          <a:prstGeom prst="rightArrow">
            <a:avLst/>
          </a:prstGeom>
          <a:solidFill>
            <a:schemeClr val="accent1"/>
          </a:solidFill>
          <a:ln w="12700">
            <a:solidFill>
              <a:schemeClr val="accent1"/>
            </a:solidFill>
            <a:prstDash val="solid"/>
          </a:ln>
        </p:spPr>
      </p:sp>
      <p:sp>
        <p:nvSpPr>
          <p:cNvPr id="23" name="Maintain step"/>
          <p:cNvSpPr/>
          <p:nvPr/>
        </p:nvSpPr>
        <p:spPr>
          <a:xfrm>
            <a:off x="10098786" y="2468880"/>
            <a:ext cx="1544269" cy="1371600"/>
          </a:xfrm>
          <a:prstGeom prst="roundRect">
            <a:avLst>
              <a:gd name="adj" fmla="val 8000"/>
            </a:avLst>
          </a:prstGeom>
          <a:solidFill>
            <a:schemeClr val="accent1"/>
          </a:solidFill>
          <a:ln w="12700">
            <a:solidFill>
              <a:schemeClr val="accent1"/>
            </a:solidFill>
            <a:prstDash val="solid"/>
          </a:ln>
        </p:spPr>
      </p:sp>
      <p:sp>
        <p:nvSpPr>
          <p:cNvPr id="24" name="Text 22"/>
          <p:cNvSpPr txBox="1"/>
          <p:nvPr/>
        </p:nvSpPr>
        <p:spPr>
          <a:xfrm>
            <a:off x="10098786" y="2697480"/>
            <a:ext cx="1544269" cy="457200"/>
          </a:xfrm>
          <a:prstGeom prst="rect">
            <a:avLst/>
          </a:prstGeom>
          <a:noFill/>
          <a:ln/>
        </p:spPr>
        <p:txBody>
          <a:bodyPr wrap="square" lIns="0" tIns="0" rIns="0" bIns="0" rtlCol="0" anchor="ctr"/>
          <a:lstStyle/>
          <a:p>
            <a:pPr algn="ctr" indent="0" marL="0">
              <a:buNone/>
            </a:pPr>
            <a:r>
              <a:rPr lang="en-US" sz="2000" b="1" dirty="0">
                <a:solidFill>
                  <a:schemeClr val="tx1"/>
                </a:solidFill>
              </a:rPr>
              <a:t>Maintain</a:t>
            </a:r>
            <a:endParaRPr lang="en-US" sz="2000" dirty="0"/>
          </a:p>
        </p:txBody>
      </p:sp>
      <p:sp>
        <p:nvSpPr>
          <p:cNvPr id="25" name="Text 23"/>
          <p:cNvSpPr txBox="1"/>
          <p:nvPr/>
        </p:nvSpPr>
        <p:spPr>
          <a:xfrm>
            <a:off x="10098786" y="3200400"/>
            <a:ext cx="1544269" cy="411480"/>
          </a:xfrm>
          <a:prstGeom prst="rect">
            <a:avLst/>
          </a:prstGeom>
          <a:noFill/>
          <a:ln/>
        </p:spPr>
        <p:txBody>
          <a:bodyPr wrap="square" lIns="0" tIns="0" rIns="0" bIns="0" rtlCol="0" anchor="ctr"/>
          <a:lstStyle/>
          <a:p>
            <a:pPr algn="ctr" indent="0" marL="0">
              <a:buNone/>
            </a:pPr>
            <a:r>
              <a:rPr lang="en-US" sz="1500" dirty="0">
                <a:solidFill>
                  <a:schemeClr val="tx1"/>
                </a:solidFill>
              </a:rPr>
              <a:t>new intent</a:t>
            </a:r>
            <a:endParaRPr lang="en-US" sz="1500" dirty="0"/>
          </a:p>
        </p:txBody>
      </p:sp>
      <p:sp>
        <p:nvSpPr>
          <p:cNvPr id="26" name="Text 24"/>
          <p:cNvSpPr txBox="1"/>
          <p:nvPr/>
        </p:nvSpPr>
        <p:spPr>
          <a:xfrm>
            <a:off x="548640" y="4480560"/>
            <a:ext cx="11094415" cy="914400"/>
          </a:xfrm>
          <a:prstGeom prst="rect">
            <a:avLst/>
          </a:prstGeom>
          <a:noFill/>
          <a:ln/>
        </p:spPr>
        <p:txBody>
          <a:bodyPr wrap="square" lIns="0" tIns="0" rIns="0" bIns="0" rtlCol="0" anchor="t"/>
          <a:lstStyle/>
          <a:p>
            <a:pPr indent="0" marL="0">
              <a:buNone/>
            </a:pPr>
            <a:r>
              <a:rPr lang="en-US" sz="2200" dirty="0">
                <a:solidFill>
                  <a:schemeClr val="accent4"/>
                </a:solidFill>
              </a:rPr>
              <a:t>Every stage writes a file that people and agents can both read. What Maintain finds becomes a new intent.md, and Plan starts again.</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4415"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WRAP-UP</a:t>
            </a:r>
            <a:endParaRPr lang="en-US" sz="1400" dirty="0"/>
          </a:p>
        </p:txBody>
      </p:sp>
      <p:sp>
        <p:nvSpPr>
          <p:cNvPr id="3" name="Text 0"/>
          <p:cNvSpPr/>
          <p:nvPr>
            <p:ph idx="101" type="title" hasCustomPrompt="1"/>
          </p:nvPr>
        </p:nvSpPr>
        <p:spPr>
          <a:xfrm>
            <a:off x="548640" y="82296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Three things to remember</a:t>
            </a:r>
            <a:endParaRPr lang="en-US" sz="3400" dirty="0"/>
          </a:p>
        </p:txBody>
      </p:sp>
      <p:sp>
        <p:nvSpPr>
          <p:cNvPr id="4" name="Number circle 1"/>
          <p:cNvSpPr/>
          <p:nvPr/>
        </p:nvSpPr>
        <p:spPr>
          <a:xfrm>
            <a:off x="548640" y="2011680"/>
            <a:ext cx="731520" cy="731520"/>
          </a:xfrm>
          <a:prstGeom prst="ellipse">
            <a:avLst/>
          </a:prstGeom>
          <a:solidFill>
            <a:schemeClr val="accent5"/>
          </a:solidFill>
          <a:ln w="12700">
            <a:solidFill>
              <a:schemeClr val="accent5"/>
            </a:solidFill>
            <a:prstDash val="solid"/>
          </a:ln>
        </p:spPr>
      </p:sp>
      <p:sp>
        <p:nvSpPr>
          <p:cNvPr id="5" name="Text 3"/>
          <p:cNvSpPr txBox="1"/>
          <p:nvPr/>
        </p:nvSpPr>
        <p:spPr>
          <a:xfrm>
            <a:off x="548640" y="2011680"/>
            <a:ext cx="731520" cy="731520"/>
          </a:xfrm>
          <a:prstGeom prst="rect">
            <a:avLst/>
          </a:prstGeom>
          <a:noFill/>
          <a:ln/>
        </p:spPr>
        <p:txBody>
          <a:bodyPr wrap="square" lIns="0" tIns="0" rIns="0" bIns="0" rtlCol="0" anchor="ctr"/>
          <a:lstStyle/>
          <a:p>
            <a:pPr algn="ctr" indent="0" marL="0">
              <a:buNone/>
            </a:pPr>
            <a:r>
              <a:rPr lang="en-US" sz="2400" b="1" dirty="0">
                <a:solidFill>
                  <a:schemeClr val="accent2"/>
                </a:solidFill>
              </a:rPr>
              <a:t>1</a:t>
            </a:r>
            <a:endParaRPr lang="en-US" sz="2400" dirty="0"/>
          </a:p>
        </p:txBody>
      </p:sp>
      <p:sp>
        <p:nvSpPr>
          <p:cNvPr id="6" name="Text 4"/>
          <p:cNvSpPr txBox="1"/>
          <p:nvPr/>
        </p:nvSpPr>
        <p:spPr>
          <a:xfrm>
            <a:off x="1600200" y="1920240"/>
            <a:ext cx="10042855" cy="914400"/>
          </a:xfrm>
          <a:prstGeom prst="rect">
            <a:avLst/>
          </a:prstGeom>
          <a:noFill/>
          <a:ln/>
        </p:spPr>
        <p:txBody>
          <a:bodyPr wrap="square" lIns="0" tIns="0" rIns="0" bIns="0" rtlCol="0" anchor="ctr"/>
          <a:lstStyle/>
          <a:p>
            <a:pPr indent="0" marL="0">
              <a:buNone/>
            </a:pPr>
            <a:r>
              <a:rPr lang="en-US" sz="2400" dirty="0">
                <a:solidFill>
                  <a:schemeClr val="tx1"/>
                </a:solidFill>
              </a:rPr>
              <a:t>Every stage writes a file that people and agents can read.</a:t>
            </a:r>
            <a:endParaRPr lang="en-US" sz="2400" dirty="0"/>
          </a:p>
        </p:txBody>
      </p:sp>
      <p:sp>
        <p:nvSpPr>
          <p:cNvPr id="7" name="Number circle 2"/>
          <p:cNvSpPr/>
          <p:nvPr/>
        </p:nvSpPr>
        <p:spPr>
          <a:xfrm>
            <a:off x="548640" y="3200400"/>
            <a:ext cx="731520" cy="731520"/>
          </a:xfrm>
          <a:prstGeom prst="ellipse">
            <a:avLst/>
          </a:prstGeom>
          <a:solidFill>
            <a:schemeClr val="accent5"/>
          </a:solidFill>
          <a:ln w="12700">
            <a:solidFill>
              <a:schemeClr val="accent5"/>
            </a:solidFill>
            <a:prstDash val="solid"/>
          </a:ln>
        </p:spPr>
      </p:sp>
      <p:sp>
        <p:nvSpPr>
          <p:cNvPr id="8" name="Text 6"/>
          <p:cNvSpPr txBox="1"/>
          <p:nvPr/>
        </p:nvSpPr>
        <p:spPr>
          <a:xfrm>
            <a:off x="548640" y="3200400"/>
            <a:ext cx="731520" cy="731520"/>
          </a:xfrm>
          <a:prstGeom prst="rect">
            <a:avLst/>
          </a:prstGeom>
          <a:noFill/>
          <a:ln/>
        </p:spPr>
        <p:txBody>
          <a:bodyPr wrap="square" lIns="0" tIns="0" rIns="0" bIns="0" rtlCol="0" anchor="ctr"/>
          <a:lstStyle/>
          <a:p>
            <a:pPr algn="ctr" indent="0" marL="0">
              <a:buNone/>
            </a:pPr>
            <a:r>
              <a:rPr lang="en-US" sz="2400" b="1" dirty="0">
                <a:solidFill>
                  <a:schemeClr val="accent2"/>
                </a:solidFill>
              </a:rPr>
              <a:t>2</a:t>
            </a:r>
            <a:endParaRPr lang="en-US" sz="2400" dirty="0"/>
          </a:p>
        </p:txBody>
      </p:sp>
      <p:sp>
        <p:nvSpPr>
          <p:cNvPr id="9" name="Text 7"/>
          <p:cNvSpPr txBox="1"/>
          <p:nvPr/>
        </p:nvSpPr>
        <p:spPr>
          <a:xfrm>
            <a:off x="1600200" y="3108960"/>
            <a:ext cx="10042855" cy="914400"/>
          </a:xfrm>
          <a:prstGeom prst="rect">
            <a:avLst/>
          </a:prstGeom>
          <a:noFill/>
          <a:ln/>
        </p:spPr>
        <p:txBody>
          <a:bodyPr wrap="square" lIns="0" tIns="0" rIns="0" bIns="0" rtlCol="0" anchor="ctr"/>
          <a:lstStyle/>
          <a:p>
            <a:pPr indent="0" marL="0">
              <a:buNone/>
            </a:pPr>
            <a:r>
              <a:rPr lang="en-US" sz="2400" dirty="0">
                <a:solidFill>
                  <a:schemeClr val="tx1"/>
                </a:solidFill>
              </a:rPr>
              <a:t>Checks run continuously, inside the work, not only between stages.</a:t>
            </a:r>
            <a:endParaRPr lang="en-US" sz="2400" dirty="0"/>
          </a:p>
        </p:txBody>
      </p:sp>
      <p:sp>
        <p:nvSpPr>
          <p:cNvPr id="10" name="Number circle 3"/>
          <p:cNvSpPr/>
          <p:nvPr/>
        </p:nvSpPr>
        <p:spPr>
          <a:xfrm>
            <a:off x="548640" y="4389120"/>
            <a:ext cx="731520" cy="731520"/>
          </a:xfrm>
          <a:prstGeom prst="ellipse">
            <a:avLst/>
          </a:prstGeom>
          <a:solidFill>
            <a:schemeClr val="accent5"/>
          </a:solidFill>
          <a:ln w="12700">
            <a:solidFill>
              <a:schemeClr val="accent5"/>
            </a:solidFill>
            <a:prstDash val="solid"/>
          </a:ln>
        </p:spPr>
      </p:sp>
      <p:sp>
        <p:nvSpPr>
          <p:cNvPr id="11" name="Text 9"/>
          <p:cNvSpPr txBox="1"/>
          <p:nvPr/>
        </p:nvSpPr>
        <p:spPr>
          <a:xfrm>
            <a:off x="548640" y="4389120"/>
            <a:ext cx="731520" cy="731520"/>
          </a:xfrm>
          <a:prstGeom prst="rect">
            <a:avLst/>
          </a:prstGeom>
          <a:noFill/>
          <a:ln/>
        </p:spPr>
        <p:txBody>
          <a:bodyPr wrap="square" lIns="0" tIns="0" rIns="0" bIns="0" rtlCol="0" anchor="ctr"/>
          <a:lstStyle/>
          <a:p>
            <a:pPr algn="ctr" indent="0" marL="0">
              <a:buNone/>
            </a:pPr>
            <a:r>
              <a:rPr lang="en-US" sz="2400" b="1" dirty="0">
                <a:solidFill>
                  <a:schemeClr val="accent2"/>
                </a:solidFill>
              </a:rPr>
              <a:t>3</a:t>
            </a:r>
            <a:endParaRPr lang="en-US" sz="2400" dirty="0"/>
          </a:p>
        </p:txBody>
      </p:sp>
      <p:sp>
        <p:nvSpPr>
          <p:cNvPr id="12" name="Text 10"/>
          <p:cNvSpPr txBox="1"/>
          <p:nvPr/>
        </p:nvSpPr>
        <p:spPr>
          <a:xfrm>
            <a:off x="1600200" y="4297680"/>
            <a:ext cx="10042855" cy="914400"/>
          </a:xfrm>
          <a:prstGeom prst="rect">
            <a:avLst/>
          </a:prstGeom>
          <a:noFill/>
          <a:ln/>
        </p:spPr>
        <p:txBody>
          <a:bodyPr wrap="square" lIns="0" tIns="0" rIns="0" bIns="0" rtlCol="0" anchor="ctr"/>
          <a:lstStyle/>
          <a:p>
            <a:pPr indent="0" marL="0">
              <a:buNone/>
            </a:pPr>
            <a:r>
              <a:rPr lang="en-US" sz="2400" dirty="0">
                <a:solidFill>
                  <a:schemeClr val="tx1"/>
                </a:solidFill>
              </a:rPr>
              <a:t>Agents work up to the gate. Humans own the judgement.</a:t>
            </a:r>
            <a:endParaRPr lang="en-US" sz="2400" dirty="0"/>
          </a:p>
        </p:txBody>
      </p:sp>
      <p:sp>
        <p:nvSpPr>
          <p:cNvPr id="13" name="Text 11"/>
          <p:cNvSpPr txBox="1"/>
          <p:nvPr/>
        </p:nvSpPr>
        <p:spPr>
          <a:xfrm>
            <a:off x="548640" y="5577840"/>
            <a:ext cx="5486400" cy="548640"/>
          </a:xfrm>
          <a:prstGeom prst="rect">
            <a:avLst/>
          </a:prstGeom>
          <a:noFill/>
          <a:ln/>
        </p:spPr>
        <p:txBody>
          <a:bodyPr wrap="square" lIns="0" tIns="0" rIns="0" bIns="0" rtlCol="0" anchor="ctr"/>
          <a:lstStyle/>
          <a:p>
            <a:pPr indent="0" marL="0">
              <a:buNone/>
            </a:pPr>
            <a:r>
              <a:rPr lang="en-US" sz="2400" b="1" dirty="0">
                <a:solidFill>
                  <a:schemeClr val="tx2"/>
                </a:solidFill>
              </a:rPr>
              <a:t>Questions?</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AI-Native SDLC">
  <a:themeElements>
    <a:clrScheme name="AI-Native SDLC">
      <a:dk1>
        <a:srgbClr val="14213D"/>
      </a:dk1>
      <a:lt1>
        <a:srgbClr val="FFFFFF"/>
      </a:lt1>
      <a:dk2>
        <a:srgbClr val="4A5568"/>
      </a:dk2>
      <a:lt2>
        <a:srgbClr val="EEF1F5"/>
      </a:lt2>
      <a:accent1>
        <a:srgbClr val="F0A25E"/>
      </a:accent1>
      <a:accent2>
        <a:srgbClr val="B4561A"/>
      </a:accent2>
      <a:accent3>
        <a:srgbClr val="22325A"/>
      </a:accent3>
      <a:accent4>
        <a:srgbClr val="C9D3E3"/>
      </a:accent4>
      <a:accent5>
        <a:srgbClr val="F7D9BE"/>
      </a:accent5>
      <a:accent6>
        <a:srgbClr val="E6EAF0"/>
      </a:accent6>
      <a:hlink>
        <a:srgbClr val="B4561A"/>
      </a:hlink>
      <a:folHlink>
        <a:srgbClr val="4A5568"/>
      </a:folHlink>
    </a:clrScheme>
    <a:fontScheme name="AI-Native SDL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AI-Native SDLC</dc:title>
  <dc:subject>PptxGenJS Presentation</dc:subject>
  <dc:creator>PptxGenJS</dc:creator>
  <cp:lastModifiedBy>PptxGenJS</cp:lastModifiedBy>
  <cp:revision>1</cp:revision>
  <dcterms:created xsi:type="dcterms:W3CDTF">2026-10-22T04:53:41Z</dcterms:created>
  <dcterms:modified xsi:type="dcterms:W3CDTF">2026-10-22T04:53:41Z</dcterms:modified>
</cp:coreProperties>
</file>